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81" r:id="rId5"/>
    <p:sldId id="273" r:id="rId6"/>
    <p:sldId id="268" r:id="rId7"/>
    <p:sldId id="291" r:id="rId8"/>
    <p:sldId id="275" r:id="rId9"/>
    <p:sldId id="287" r:id="rId10"/>
    <p:sldId id="290" r:id="rId11"/>
    <p:sldId id="292" r:id="rId12"/>
    <p:sldId id="27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 PROJETOS ACADÊMICOS UVA" id="{EA77B24B-5278-4991-B198-2CA4887B5862}">
          <p14:sldIdLst/>
        </p14:section>
        <p14:section name="Capa" id="{86E7368F-5161-4CC9-A16C-F5BF83EF585C}">
          <p14:sldIdLst>
            <p14:sldId id="281"/>
          </p14:sldIdLst>
        </p14:section>
        <p14:section name="Sumário" id="{3F2FF624-6EE3-4F71-BC1F-8F9017C6452B}">
          <p14:sldIdLst>
            <p14:sldId id="273"/>
          </p14:sldIdLst>
        </p14:section>
        <p14:section name="Abertura" id="{36E53D0F-5086-4D42-B347-D1F99F153B22}">
          <p14:sldIdLst>
            <p14:sldId id="268"/>
            <p14:sldId id="291"/>
          </p14:sldIdLst>
        </p14:section>
        <p14:section name="Conteúdo" id="{622ED79F-99EB-4974-8513-7190E14859A9}">
          <p14:sldIdLst>
            <p14:sldId id="275"/>
            <p14:sldId id="287"/>
            <p14:sldId id="290"/>
            <p14:sldId id="292"/>
          </p14:sldIdLst>
        </p14:section>
        <p14:section name="Fechamento" id="{FCAB1CB8-FF0A-4BA6-B0DF-CF7657ADDCC2}">
          <p14:sldIdLst>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B78"/>
    <a:srgbClr val="E60073"/>
    <a:srgbClr val="8CD5BE"/>
    <a:srgbClr val="FFD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45" autoAdjust="0"/>
    <p:restoredTop sz="94660"/>
  </p:normalViewPr>
  <p:slideViewPr>
    <p:cSldViewPr snapToGrid="0">
      <p:cViewPr varScale="1">
        <p:scale>
          <a:sx n="122" d="100"/>
          <a:sy n="122" d="100"/>
        </p:scale>
        <p:origin x="1208" y="2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48AB659D-1A9A-43F9-8DE4-01BA4667CB81}" type="datetimeFigureOut">
              <a:rPr lang="pt-BR" smtClean="0"/>
              <a:t>24/11/2025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3046166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B659D-1A9A-43F9-8DE4-01BA4667CB81}" type="datetimeFigureOut">
              <a:rPr lang="pt-BR" smtClean="0"/>
              <a:t>24/11/2025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355454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8AB659D-1A9A-43F9-8DE4-01BA4667CB81}" type="datetimeFigureOut">
              <a:rPr lang="pt-BR" smtClean="0"/>
              <a:t>24/11/2025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124947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B659D-1A9A-43F9-8DE4-01BA4667CB81}" type="datetimeFigureOut">
              <a:rPr lang="pt-BR" smtClean="0"/>
              <a:t>24/11/2025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971089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B659D-1A9A-43F9-8DE4-01BA4667CB81}" type="datetimeFigureOut">
              <a:rPr lang="pt-BR" smtClean="0"/>
              <a:t>24/11/2025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4093635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B659D-1A9A-43F9-8DE4-01BA4667CB81}" type="datetimeFigureOut">
              <a:rPr lang="pt-BR" smtClean="0"/>
              <a:t>24/11/2025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3539885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B659D-1A9A-43F9-8DE4-01BA4667CB81}" type="datetimeFigureOut">
              <a:rPr lang="pt-BR" smtClean="0"/>
              <a:t>24/11/2025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99104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B659D-1A9A-43F9-8DE4-01BA4667CB81}" type="datetimeFigureOut">
              <a:rPr lang="pt-BR" smtClean="0"/>
              <a:t>24/11/2025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2606748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B659D-1A9A-43F9-8DE4-01BA4667CB81}" type="datetimeFigureOut">
              <a:rPr lang="pt-BR" smtClean="0"/>
              <a:t>24/11/2025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100661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B659D-1A9A-43F9-8DE4-01BA4667CB81}" type="datetimeFigureOut">
              <a:rPr lang="pt-BR" smtClean="0"/>
              <a:t>24/11/2025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2406002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B659D-1A9A-43F9-8DE4-01BA4667CB81}" type="datetimeFigureOut">
              <a:rPr lang="pt-BR" smtClean="0"/>
              <a:t>24/11/2025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3E36674-46D5-4DE6-BFC3-A82968B03F57}" type="slidenum">
              <a:rPr lang="pt-BR" smtClean="0"/>
              <a:t>‹nº›</a:t>
            </a:fld>
            <a:endParaRPr lang="pt-BR"/>
          </a:p>
        </p:txBody>
      </p:sp>
    </p:spTree>
    <p:extLst>
      <p:ext uri="{BB962C8B-B14F-4D97-AF65-F5344CB8AC3E}">
        <p14:creationId xmlns:p14="http://schemas.microsoft.com/office/powerpoint/2010/main" val="3832607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B659D-1A9A-43F9-8DE4-01BA4667CB81}" type="datetimeFigureOut">
              <a:rPr lang="pt-BR" smtClean="0"/>
              <a:t>24/11/2025</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E36674-46D5-4DE6-BFC3-A82968B03F57}" type="slidenum">
              <a:rPr lang="pt-BR" smtClean="0"/>
              <a:t>‹nº›</a:t>
            </a:fld>
            <a:endParaRPr lang="pt-BR"/>
          </a:p>
        </p:txBody>
      </p:sp>
    </p:spTree>
    <p:extLst>
      <p:ext uri="{BB962C8B-B14F-4D97-AF65-F5344CB8AC3E}">
        <p14:creationId xmlns:p14="http://schemas.microsoft.com/office/powerpoint/2010/main" val="3613001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image" Target="../media/image7.jp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9.png"/><Relationship Id="rId10" Type="http://schemas.microsoft.com/office/2007/relationships/hdphoto" Target="../media/hdphoto3.wdp"/><Relationship Id="rId4" Type="http://schemas.openxmlformats.org/officeDocument/2006/relationships/image" Target="../media/image6.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E43B647D-ED87-4C4C-9501-E39B9ACA7BB3}"/>
              </a:ext>
            </a:extLst>
          </p:cNvPr>
          <p:cNvSpPr/>
          <p:nvPr/>
        </p:nvSpPr>
        <p:spPr>
          <a:xfrm>
            <a:off x="0" y="0"/>
            <a:ext cx="7761514" cy="6858000"/>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0" name="Imagem 19" descr="Logotipo&#10;&#10;Descrição gerada automaticamente">
            <a:extLst>
              <a:ext uri="{FF2B5EF4-FFF2-40B4-BE49-F238E27FC236}">
                <a16:creationId xmlns:a16="http://schemas.microsoft.com/office/drawing/2014/main" id="{C7D9C0E3-F4F5-4BAE-A47A-6618E873D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882" y="652385"/>
            <a:ext cx="2124958" cy="826127"/>
          </a:xfrm>
          <a:prstGeom prst="rect">
            <a:avLst/>
          </a:prstGeom>
        </p:spPr>
      </p:pic>
      <p:pic>
        <p:nvPicPr>
          <p:cNvPr id="4" name="Imagem 3" descr="Mulher com vestido azul&#10;&#10;Descrição gerada automaticamente">
            <a:extLst>
              <a:ext uri="{FF2B5EF4-FFF2-40B4-BE49-F238E27FC236}">
                <a16:creationId xmlns:a16="http://schemas.microsoft.com/office/drawing/2014/main" id="{327D5067-7B7E-8248-A804-690F47856CEA}"/>
              </a:ext>
            </a:extLst>
          </p:cNvPr>
          <p:cNvPicPr>
            <a:picLocks noChangeAspect="1"/>
          </p:cNvPicPr>
          <p:nvPr/>
        </p:nvPicPr>
        <p:blipFill rotWithShape="1">
          <a:blip r:embed="rId3">
            <a:extLst>
              <a:ext uri="{28A0092B-C50C-407E-A947-70E740481C1C}">
                <a14:useLocalDpi xmlns:a14="http://schemas.microsoft.com/office/drawing/2010/main" val="0"/>
              </a:ext>
            </a:extLst>
          </a:blip>
          <a:srcRect l="19393" r="5329"/>
          <a:stretch/>
        </p:blipFill>
        <p:spPr>
          <a:xfrm flipH="1">
            <a:off x="4816258" y="328111"/>
            <a:ext cx="7045118" cy="6212909"/>
          </a:xfrm>
          <a:prstGeom prst="rect">
            <a:avLst/>
          </a:prstGeom>
        </p:spPr>
      </p:pic>
      <p:pic>
        <p:nvPicPr>
          <p:cNvPr id="18" name="Imagem 17" descr="Forma, Retângulo&#10;&#10;Descrição gerada automaticamente">
            <a:extLst>
              <a:ext uri="{FF2B5EF4-FFF2-40B4-BE49-F238E27FC236}">
                <a16:creationId xmlns:a16="http://schemas.microsoft.com/office/drawing/2014/main" id="{FE4342F0-376A-4665-AFAD-12CE7F2BFE5B}"/>
              </a:ext>
            </a:extLst>
          </p:cNvPr>
          <p:cNvPicPr>
            <a:picLocks noChangeAspect="1"/>
          </p:cNvPicPr>
          <p:nvPr/>
        </p:nvPicPr>
        <p:blipFill rotWithShape="1">
          <a:blip r:embed="rId4">
            <a:extLst>
              <a:ext uri="{28A0092B-C50C-407E-A947-70E740481C1C}">
                <a14:useLocalDpi xmlns:a14="http://schemas.microsoft.com/office/drawing/2010/main" val="0"/>
              </a:ext>
            </a:extLst>
          </a:blip>
          <a:srcRect l="1219"/>
          <a:stretch/>
        </p:blipFill>
        <p:spPr>
          <a:xfrm>
            <a:off x="0" y="1267552"/>
            <a:ext cx="8816732" cy="4322895"/>
          </a:xfrm>
          <a:prstGeom prst="rect">
            <a:avLst/>
          </a:prstGeom>
        </p:spPr>
      </p:pic>
      <p:sp>
        <p:nvSpPr>
          <p:cNvPr id="24" name="TextBox 11">
            <a:extLst>
              <a:ext uri="{FF2B5EF4-FFF2-40B4-BE49-F238E27FC236}">
                <a16:creationId xmlns:a16="http://schemas.microsoft.com/office/drawing/2014/main" id="{AD7A561B-D2A9-4F17-A68A-B1220D0B07C9}"/>
              </a:ext>
            </a:extLst>
          </p:cNvPr>
          <p:cNvSpPr txBox="1"/>
          <p:nvPr/>
        </p:nvSpPr>
        <p:spPr>
          <a:xfrm>
            <a:off x="369722" y="2706174"/>
            <a:ext cx="7859877" cy="923330"/>
          </a:xfrm>
          <a:prstGeom prst="rect">
            <a:avLst/>
          </a:prstGeom>
        </p:spPr>
        <p:txBody>
          <a:bodyPr wrap="square" lIns="0" tIns="0" rIns="0" bIns="0" rtlCol="0" anchor="t">
            <a:spAutoFit/>
          </a:bodyPr>
          <a:lstStyle/>
          <a:p>
            <a:pPr fontAlgn="t">
              <a:lnSpc>
                <a:spcPct val="150000"/>
              </a:lnSpc>
            </a:pPr>
            <a:r>
              <a:rPr lang="en-US" sz="2000" b="1" dirty="0">
                <a:solidFill>
                  <a:srgbClr val="004B78"/>
                </a:solidFill>
                <a:latin typeface="Arial" panose="020B0604020202020204" pitchFamily="34" charset="0"/>
                <a:cs typeface="Arial" panose="020B0604020202020204" pitchFamily="34" charset="0"/>
              </a:rPr>
              <a:t>Sistema de </a:t>
            </a:r>
            <a:r>
              <a:rPr lang="en-US" sz="2000" b="1" dirty="0" err="1">
                <a:solidFill>
                  <a:srgbClr val="004B78"/>
                </a:solidFill>
                <a:latin typeface="Arial" panose="020B0604020202020204" pitchFamily="34" charset="0"/>
                <a:cs typeface="Arial" panose="020B0604020202020204" pitchFamily="34" charset="0"/>
              </a:rPr>
              <a:t>Inteligência</a:t>
            </a:r>
            <a:r>
              <a:rPr lang="en-US" sz="2000" b="1" dirty="0">
                <a:solidFill>
                  <a:srgbClr val="004B78"/>
                </a:solidFill>
                <a:latin typeface="Arial" panose="020B0604020202020204" pitchFamily="34" charset="0"/>
                <a:cs typeface="Arial" panose="020B0604020202020204" pitchFamily="34" charset="0"/>
              </a:rPr>
              <a:t> Artificial Neuro-</a:t>
            </a:r>
            <a:r>
              <a:rPr lang="en-US" sz="2000" b="1" dirty="0" err="1">
                <a:solidFill>
                  <a:srgbClr val="004B78"/>
                </a:solidFill>
                <a:latin typeface="Arial" panose="020B0604020202020204" pitchFamily="34" charset="0"/>
                <a:cs typeface="Arial" panose="020B0604020202020204" pitchFamily="34" charset="0"/>
              </a:rPr>
              <a:t>Simbólico</a:t>
            </a:r>
            <a:r>
              <a:rPr lang="en-US" sz="2000" b="1" dirty="0">
                <a:solidFill>
                  <a:srgbClr val="004B78"/>
                </a:solidFill>
                <a:latin typeface="Arial" panose="020B0604020202020204" pitchFamily="34" charset="0"/>
                <a:cs typeface="Arial" panose="020B0604020202020204" pitchFamily="34" charset="0"/>
              </a:rPr>
              <a:t> para</a:t>
            </a:r>
            <a:br>
              <a:rPr lang="en-US" sz="2000" b="1" dirty="0">
                <a:solidFill>
                  <a:srgbClr val="004B78"/>
                </a:solidFill>
                <a:latin typeface="Arial" panose="020B0604020202020204" pitchFamily="34" charset="0"/>
                <a:cs typeface="Arial" panose="020B0604020202020204" pitchFamily="34" charset="0"/>
              </a:rPr>
            </a:br>
            <a:r>
              <a:rPr lang="en-US" sz="2000" b="1" dirty="0" err="1">
                <a:solidFill>
                  <a:srgbClr val="004B78"/>
                </a:solidFill>
                <a:latin typeface="Arial" panose="020B0604020202020204" pitchFamily="34" charset="0"/>
                <a:cs typeface="Arial" panose="020B0604020202020204" pitchFamily="34" charset="0"/>
              </a:rPr>
              <a:t>Raciocínio</a:t>
            </a:r>
            <a:r>
              <a:rPr lang="en-US" sz="2000" b="1" dirty="0">
                <a:solidFill>
                  <a:srgbClr val="004B78"/>
                </a:solidFill>
                <a:latin typeface="Arial" panose="020B0604020202020204" pitchFamily="34" charset="0"/>
                <a:cs typeface="Arial" panose="020B0604020202020204" pitchFamily="34" charset="0"/>
              </a:rPr>
              <a:t>, </a:t>
            </a:r>
            <a:r>
              <a:rPr lang="en-US" sz="2000" b="1" dirty="0" err="1">
                <a:solidFill>
                  <a:srgbClr val="004B78"/>
                </a:solidFill>
                <a:latin typeface="Arial" panose="020B0604020202020204" pitchFamily="34" charset="0"/>
                <a:cs typeface="Arial" panose="020B0604020202020204" pitchFamily="34" charset="0"/>
              </a:rPr>
              <a:t>Inovação</a:t>
            </a:r>
            <a:r>
              <a:rPr lang="en-US" sz="2000" b="1" dirty="0">
                <a:solidFill>
                  <a:srgbClr val="004B78"/>
                </a:solidFill>
                <a:latin typeface="Arial" panose="020B0604020202020204" pitchFamily="34" charset="0"/>
                <a:cs typeface="Arial" panose="020B0604020202020204" pitchFamily="34" charset="0"/>
              </a:rPr>
              <a:t> e </a:t>
            </a:r>
            <a:r>
              <a:rPr lang="en-US" sz="2000" b="1" dirty="0" err="1">
                <a:solidFill>
                  <a:srgbClr val="004B78"/>
                </a:solidFill>
                <a:latin typeface="Arial" panose="020B0604020202020204" pitchFamily="34" charset="0"/>
                <a:cs typeface="Arial" panose="020B0604020202020204" pitchFamily="34" charset="0"/>
              </a:rPr>
              <a:t>Aprendizado</a:t>
            </a:r>
            <a:r>
              <a:rPr lang="en-US" sz="2000" b="1" dirty="0">
                <a:solidFill>
                  <a:srgbClr val="004B78"/>
                </a:solidFill>
                <a:latin typeface="Arial" panose="020B0604020202020204" pitchFamily="34" charset="0"/>
                <a:cs typeface="Arial" panose="020B0604020202020204" pitchFamily="34" charset="0"/>
              </a:rPr>
              <a:t> </a:t>
            </a:r>
            <a:r>
              <a:rPr lang="en-US" sz="2000" b="1" dirty="0" err="1">
                <a:solidFill>
                  <a:srgbClr val="004B78"/>
                </a:solidFill>
                <a:latin typeface="Arial" panose="020B0604020202020204" pitchFamily="34" charset="0"/>
                <a:cs typeface="Arial" panose="020B0604020202020204" pitchFamily="34" charset="0"/>
              </a:rPr>
              <a:t>Contínuo</a:t>
            </a:r>
            <a:endParaRPr lang="en-US" sz="2000" b="1" dirty="0">
              <a:solidFill>
                <a:srgbClr val="004B78"/>
              </a:solidFill>
              <a:latin typeface="Arial" panose="020B0604020202020204" pitchFamily="34" charset="0"/>
              <a:cs typeface="Arial" panose="020B0604020202020204" pitchFamily="34" charset="0"/>
            </a:endParaRPr>
          </a:p>
        </p:txBody>
      </p:sp>
      <p:sp>
        <p:nvSpPr>
          <p:cNvPr id="26" name="AutoShape 2">
            <a:extLst>
              <a:ext uri="{FF2B5EF4-FFF2-40B4-BE49-F238E27FC236}">
                <a16:creationId xmlns:a16="http://schemas.microsoft.com/office/drawing/2014/main" id="{26BCAE76-36E1-4020-B5CF-69D615ED88A1}"/>
              </a:ext>
            </a:extLst>
          </p:cNvPr>
          <p:cNvSpPr/>
          <p:nvPr/>
        </p:nvSpPr>
        <p:spPr>
          <a:xfrm>
            <a:off x="369724" y="4390465"/>
            <a:ext cx="874129" cy="107948"/>
          </a:xfrm>
          <a:prstGeom prst="rect">
            <a:avLst/>
          </a:prstGeom>
          <a:solidFill>
            <a:srgbClr val="004B78"/>
          </a:solidFill>
        </p:spPr>
        <p:txBody>
          <a:bodyPr/>
          <a:lstStyle/>
          <a:p>
            <a:endParaRPr lang="pt-BR"/>
          </a:p>
        </p:txBody>
      </p:sp>
      <p:sp>
        <p:nvSpPr>
          <p:cNvPr id="11" name="Retângulo 10">
            <a:extLst>
              <a:ext uri="{FF2B5EF4-FFF2-40B4-BE49-F238E27FC236}">
                <a16:creationId xmlns:a16="http://schemas.microsoft.com/office/drawing/2014/main" id="{37744D17-678C-49E3-88E4-9024E3910083}"/>
              </a:ext>
            </a:extLst>
          </p:cNvPr>
          <p:cNvSpPr/>
          <p:nvPr/>
        </p:nvSpPr>
        <p:spPr>
          <a:xfrm>
            <a:off x="280706" y="1932437"/>
            <a:ext cx="6695381" cy="492443"/>
          </a:xfrm>
          <a:prstGeom prst="rect">
            <a:avLst/>
          </a:prstGeom>
        </p:spPr>
        <p:txBody>
          <a:bodyPr wrap="square">
            <a:spAutoFit/>
          </a:bodyPr>
          <a:lstStyle/>
          <a:p>
            <a:endParaRPr lang="en-US" sz="1300" b="0" i="0" dirty="0">
              <a:solidFill>
                <a:schemeClr val="bg1">
                  <a:lumMod val="50000"/>
                </a:schemeClr>
              </a:solidFill>
              <a:effectLst/>
              <a:latin typeface="Arial" panose="020B0604020202020204" pitchFamily="34" charset="0"/>
              <a:cs typeface="Arial" panose="020B0604020202020204" pitchFamily="34" charset="0"/>
            </a:endParaRPr>
          </a:p>
          <a:p>
            <a:r>
              <a:rPr lang="en-US" sz="1300" i="0" dirty="0">
                <a:solidFill>
                  <a:srgbClr val="004B78"/>
                </a:solidFill>
                <a:effectLst/>
                <a:latin typeface="Arial" panose="020B0604020202020204" pitchFamily="34" charset="0"/>
                <a:cs typeface="Arial" panose="020B0604020202020204" pitchFamily="34" charset="0"/>
              </a:rPr>
              <a:t>PROJETO ACADÊMICO DE GRADUAÇÃO</a:t>
            </a:r>
            <a:endParaRPr lang="pt-BR" sz="1300" dirty="0">
              <a:solidFill>
                <a:srgbClr val="004B78"/>
              </a:solidFill>
              <a:latin typeface="Arial" panose="020B0604020202020204" pitchFamily="34" charset="0"/>
              <a:cs typeface="Arial" panose="020B0604020202020204" pitchFamily="34" charset="0"/>
            </a:endParaRPr>
          </a:p>
        </p:txBody>
      </p:sp>
      <p:sp>
        <p:nvSpPr>
          <p:cNvPr id="12" name="Retângulo 11">
            <a:extLst>
              <a:ext uri="{FF2B5EF4-FFF2-40B4-BE49-F238E27FC236}">
                <a16:creationId xmlns:a16="http://schemas.microsoft.com/office/drawing/2014/main" id="{CE9325F9-32B3-2744-B6E2-42ED6F936244}"/>
              </a:ext>
            </a:extLst>
          </p:cNvPr>
          <p:cNvSpPr/>
          <p:nvPr/>
        </p:nvSpPr>
        <p:spPr>
          <a:xfrm>
            <a:off x="282041" y="4485297"/>
            <a:ext cx="6695381" cy="692497"/>
          </a:xfrm>
          <a:prstGeom prst="rect">
            <a:avLst/>
          </a:prstGeom>
        </p:spPr>
        <p:txBody>
          <a:bodyPr wrap="square">
            <a:spAutoFit/>
          </a:bodyPr>
          <a:lstStyle/>
          <a:p>
            <a:endParaRPr lang="en-US" sz="1300" b="0" i="0" dirty="0">
              <a:solidFill>
                <a:schemeClr val="bg1">
                  <a:lumMod val="50000"/>
                </a:schemeClr>
              </a:solidFill>
              <a:effectLst/>
              <a:latin typeface="Arial" panose="020B0604020202020204" pitchFamily="34" charset="0"/>
              <a:cs typeface="Arial" panose="020B0604020202020204" pitchFamily="34" charset="0"/>
            </a:endParaRPr>
          </a:p>
          <a:p>
            <a:r>
              <a:rPr lang="en-US" sz="1300" i="0" dirty="0">
                <a:solidFill>
                  <a:srgbClr val="004B78"/>
                </a:solidFill>
                <a:effectLst/>
                <a:latin typeface="Arial" panose="020B0604020202020204" pitchFamily="34" charset="0"/>
                <a:cs typeface="Arial" panose="020B0604020202020204" pitchFamily="34" charset="0"/>
              </a:rPr>
              <a:t>DEZEMBRO / </a:t>
            </a:r>
            <a:r>
              <a:rPr lang="en-US" sz="1300" dirty="0">
                <a:solidFill>
                  <a:srgbClr val="004B78"/>
                </a:solidFill>
                <a:latin typeface="Arial" panose="020B0604020202020204" pitchFamily="34" charset="0"/>
                <a:cs typeface="Arial" panose="020B0604020202020204" pitchFamily="34" charset="0"/>
              </a:rPr>
              <a:t>2025</a:t>
            </a:r>
            <a:endParaRPr lang="en-US" sz="1300" i="0" dirty="0">
              <a:solidFill>
                <a:srgbClr val="004B78"/>
              </a:solidFill>
              <a:effectLst/>
              <a:latin typeface="Arial" panose="020B0604020202020204" pitchFamily="34" charset="0"/>
              <a:cs typeface="Arial" panose="020B0604020202020204" pitchFamily="34" charset="0"/>
            </a:endParaRPr>
          </a:p>
          <a:p>
            <a:endParaRPr lang="pt-BR" sz="1300" dirty="0">
              <a:solidFill>
                <a:srgbClr val="004B7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2183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E43B647D-ED87-4C4C-9501-E39B9ACA7BB3}"/>
              </a:ext>
            </a:extLst>
          </p:cNvPr>
          <p:cNvSpPr/>
          <p:nvPr/>
        </p:nvSpPr>
        <p:spPr>
          <a:xfrm>
            <a:off x="0" y="0"/>
            <a:ext cx="2797629" cy="6858000"/>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TextBox 11">
            <a:extLst>
              <a:ext uri="{FF2B5EF4-FFF2-40B4-BE49-F238E27FC236}">
                <a16:creationId xmlns:a16="http://schemas.microsoft.com/office/drawing/2014/main" id="{AD7A561B-D2A9-4F17-A68A-B1220D0B07C9}"/>
              </a:ext>
            </a:extLst>
          </p:cNvPr>
          <p:cNvSpPr txBox="1"/>
          <p:nvPr/>
        </p:nvSpPr>
        <p:spPr>
          <a:xfrm>
            <a:off x="3168610" y="834615"/>
            <a:ext cx="6285635" cy="461665"/>
          </a:xfrm>
          <a:prstGeom prst="rect">
            <a:avLst/>
          </a:prstGeom>
        </p:spPr>
        <p:txBody>
          <a:bodyPr wrap="square" lIns="0" tIns="0" rIns="0" bIns="0" rtlCol="0" anchor="t">
            <a:spAutoFit/>
          </a:bodyPr>
          <a:lstStyle/>
          <a:p>
            <a:pPr fontAlgn="t"/>
            <a:r>
              <a:rPr lang="en-US" sz="3000" b="1" dirty="0">
                <a:solidFill>
                  <a:srgbClr val="004B78"/>
                </a:solidFill>
                <a:latin typeface="Arial" panose="020B0604020202020204" pitchFamily="34" charset="0"/>
                <a:cs typeface="Arial" panose="020B0604020202020204" pitchFamily="34" charset="0"/>
              </a:rPr>
              <a:t>SUMÁRIO</a:t>
            </a:r>
          </a:p>
        </p:txBody>
      </p:sp>
      <p:pic>
        <p:nvPicPr>
          <p:cNvPr id="11" name="Imagem 10" descr="Logotipo&#10;&#10;Descrição gerada automaticamente">
            <a:extLst>
              <a:ext uri="{FF2B5EF4-FFF2-40B4-BE49-F238E27FC236}">
                <a16:creationId xmlns:a16="http://schemas.microsoft.com/office/drawing/2014/main" id="{09162ED6-3773-40F4-871F-8408BDC42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882" y="652385"/>
            <a:ext cx="2124958" cy="826127"/>
          </a:xfrm>
          <a:prstGeom prst="rect">
            <a:avLst/>
          </a:prstGeom>
        </p:spPr>
      </p:pic>
      <p:pic>
        <p:nvPicPr>
          <p:cNvPr id="3" name="Imagem 2">
            <a:extLst>
              <a:ext uri="{FF2B5EF4-FFF2-40B4-BE49-F238E27FC236}">
                <a16:creationId xmlns:a16="http://schemas.microsoft.com/office/drawing/2014/main" id="{F9DE058F-DDEC-46DC-BADB-7C7B97180E4A}"/>
              </a:ext>
            </a:extLst>
          </p:cNvPr>
          <p:cNvPicPr>
            <a:picLocks noChangeAspect="1"/>
          </p:cNvPicPr>
          <p:nvPr/>
        </p:nvPicPr>
        <p:blipFill rotWithShape="1">
          <a:blip r:embed="rId3">
            <a:extLst>
              <a:ext uri="{28A0092B-C50C-407E-A947-70E740481C1C}">
                <a14:useLocalDpi xmlns:a14="http://schemas.microsoft.com/office/drawing/2010/main" val="0"/>
              </a:ext>
            </a:extLst>
          </a:blip>
          <a:srcRect l="24447" t="-227169" r="-1" b="-59858"/>
          <a:stretch/>
        </p:blipFill>
        <p:spPr>
          <a:xfrm>
            <a:off x="3168611" y="6023385"/>
            <a:ext cx="8655350" cy="701265"/>
          </a:xfrm>
          <a:prstGeom prst="rect">
            <a:avLst/>
          </a:prstGeom>
        </p:spPr>
      </p:pic>
      <p:sp>
        <p:nvSpPr>
          <p:cNvPr id="15" name="Retângulo 14">
            <a:extLst>
              <a:ext uri="{FF2B5EF4-FFF2-40B4-BE49-F238E27FC236}">
                <a16:creationId xmlns:a16="http://schemas.microsoft.com/office/drawing/2014/main" id="{6AEF939F-5600-4DD8-A056-D76CACF4EEE4}"/>
              </a:ext>
            </a:extLst>
          </p:cNvPr>
          <p:cNvSpPr/>
          <p:nvPr/>
        </p:nvSpPr>
        <p:spPr>
          <a:xfrm>
            <a:off x="3816311" y="1615480"/>
            <a:ext cx="2636877"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Apresentação</a:t>
            </a:r>
            <a:endParaRPr lang="pt-BR" sz="1400" dirty="0">
              <a:solidFill>
                <a:srgbClr val="004B78"/>
              </a:solidFill>
              <a:latin typeface="Arial" panose="020B0604020202020204" pitchFamily="34" charset="0"/>
              <a:cs typeface="Arial" panose="020B0604020202020204" pitchFamily="34" charset="0"/>
            </a:endParaRPr>
          </a:p>
        </p:txBody>
      </p:sp>
      <p:sp>
        <p:nvSpPr>
          <p:cNvPr id="8" name="Retângulo 7">
            <a:extLst>
              <a:ext uri="{FF2B5EF4-FFF2-40B4-BE49-F238E27FC236}">
                <a16:creationId xmlns:a16="http://schemas.microsoft.com/office/drawing/2014/main" id="{1FE20FA9-0FC5-4D0F-B809-1A9CC620C720}"/>
              </a:ext>
            </a:extLst>
          </p:cNvPr>
          <p:cNvSpPr/>
          <p:nvPr/>
        </p:nvSpPr>
        <p:spPr>
          <a:xfrm>
            <a:off x="2797629" y="1499668"/>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01.</a:t>
            </a:r>
          </a:p>
        </p:txBody>
      </p:sp>
      <p:sp>
        <p:nvSpPr>
          <p:cNvPr id="10" name="Retângulo 9">
            <a:extLst>
              <a:ext uri="{FF2B5EF4-FFF2-40B4-BE49-F238E27FC236}">
                <a16:creationId xmlns:a16="http://schemas.microsoft.com/office/drawing/2014/main" id="{2533FB11-85A2-48BB-A224-50BE78693479}"/>
              </a:ext>
            </a:extLst>
          </p:cNvPr>
          <p:cNvSpPr/>
          <p:nvPr/>
        </p:nvSpPr>
        <p:spPr>
          <a:xfrm>
            <a:off x="3816311" y="2217424"/>
            <a:ext cx="2636877"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Introdução</a:t>
            </a:r>
            <a:endParaRPr lang="pt-BR" dirty="0">
              <a:solidFill>
                <a:srgbClr val="004B78"/>
              </a:solidFill>
              <a:latin typeface="Arial" panose="020B0604020202020204" pitchFamily="34" charset="0"/>
              <a:cs typeface="Arial" panose="020B0604020202020204" pitchFamily="34" charset="0"/>
            </a:endParaRPr>
          </a:p>
        </p:txBody>
      </p:sp>
      <p:sp>
        <p:nvSpPr>
          <p:cNvPr id="12" name="Retângulo 11">
            <a:extLst>
              <a:ext uri="{FF2B5EF4-FFF2-40B4-BE49-F238E27FC236}">
                <a16:creationId xmlns:a16="http://schemas.microsoft.com/office/drawing/2014/main" id="{B7666DC6-13FC-4688-9457-68697759253E}"/>
              </a:ext>
            </a:extLst>
          </p:cNvPr>
          <p:cNvSpPr/>
          <p:nvPr/>
        </p:nvSpPr>
        <p:spPr>
          <a:xfrm>
            <a:off x="2797628" y="2107062"/>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02.</a:t>
            </a:r>
          </a:p>
        </p:txBody>
      </p:sp>
      <p:sp>
        <p:nvSpPr>
          <p:cNvPr id="13" name="Retângulo 12">
            <a:extLst>
              <a:ext uri="{FF2B5EF4-FFF2-40B4-BE49-F238E27FC236}">
                <a16:creationId xmlns:a16="http://schemas.microsoft.com/office/drawing/2014/main" id="{9003EA2D-5604-4326-A9DA-FA8EF78CF566}"/>
              </a:ext>
            </a:extLst>
          </p:cNvPr>
          <p:cNvSpPr/>
          <p:nvPr/>
        </p:nvSpPr>
        <p:spPr>
          <a:xfrm>
            <a:off x="3767320" y="2819368"/>
            <a:ext cx="2685868"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Problema</a:t>
            </a:r>
            <a:r>
              <a:rPr lang="en-US" b="1" i="0" dirty="0">
                <a:solidFill>
                  <a:srgbClr val="004B78"/>
                </a:solidFill>
                <a:effectLst/>
                <a:latin typeface="Arial" panose="020B0604020202020204" pitchFamily="34" charset="0"/>
                <a:cs typeface="Arial" panose="020B0604020202020204" pitchFamily="34" charset="0"/>
              </a:rPr>
              <a:t> </a:t>
            </a:r>
            <a:r>
              <a:rPr lang="en-US" b="1" i="0" dirty="0" err="1">
                <a:solidFill>
                  <a:srgbClr val="004B78"/>
                </a:solidFill>
                <a:effectLst/>
                <a:latin typeface="Arial" panose="020B0604020202020204" pitchFamily="34" charset="0"/>
                <a:cs typeface="Arial" panose="020B0604020202020204" pitchFamily="34" charset="0"/>
              </a:rPr>
              <a:t>Atual</a:t>
            </a:r>
            <a:endParaRPr lang="en-US" sz="1400" b="1" i="0" dirty="0">
              <a:solidFill>
                <a:schemeClr val="bg1">
                  <a:lumMod val="50000"/>
                </a:schemeClr>
              </a:solidFill>
              <a:effectLst/>
              <a:latin typeface="Arial" panose="020B0604020202020204" pitchFamily="34" charset="0"/>
              <a:cs typeface="Arial" panose="020B0604020202020204" pitchFamily="34" charset="0"/>
            </a:endParaRPr>
          </a:p>
        </p:txBody>
      </p:sp>
      <p:sp>
        <p:nvSpPr>
          <p:cNvPr id="14" name="Retângulo 13">
            <a:extLst>
              <a:ext uri="{FF2B5EF4-FFF2-40B4-BE49-F238E27FC236}">
                <a16:creationId xmlns:a16="http://schemas.microsoft.com/office/drawing/2014/main" id="{344E94D4-00FE-4B03-BC4C-EF8C6D2F905F}"/>
              </a:ext>
            </a:extLst>
          </p:cNvPr>
          <p:cNvSpPr/>
          <p:nvPr/>
        </p:nvSpPr>
        <p:spPr>
          <a:xfrm>
            <a:off x="2797625" y="2708371"/>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03.</a:t>
            </a:r>
          </a:p>
        </p:txBody>
      </p:sp>
      <p:sp>
        <p:nvSpPr>
          <p:cNvPr id="2" name="Retângulo 1">
            <a:extLst>
              <a:ext uri="{FF2B5EF4-FFF2-40B4-BE49-F238E27FC236}">
                <a16:creationId xmlns:a16="http://schemas.microsoft.com/office/drawing/2014/main" id="{7ED78BB7-67EA-EDB2-91EC-CCEE668814DF}"/>
              </a:ext>
            </a:extLst>
          </p:cNvPr>
          <p:cNvSpPr/>
          <p:nvPr/>
        </p:nvSpPr>
        <p:spPr>
          <a:xfrm>
            <a:off x="2797625" y="3315765"/>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04.</a:t>
            </a:r>
          </a:p>
        </p:txBody>
      </p:sp>
      <p:sp>
        <p:nvSpPr>
          <p:cNvPr id="4" name="Retângulo 3">
            <a:extLst>
              <a:ext uri="{FF2B5EF4-FFF2-40B4-BE49-F238E27FC236}">
                <a16:creationId xmlns:a16="http://schemas.microsoft.com/office/drawing/2014/main" id="{A6355DD3-860E-3CEB-34A6-F6B3F9CED29D}"/>
              </a:ext>
            </a:extLst>
          </p:cNvPr>
          <p:cNvSpPr/>
          <p:nvPr/>
        </p:nvSpPr>
        <p:spPr>
          <a:xfrm>
            <a:off x="3767320" y="3420678"/>
            <a:ext cx="2685868"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Contexto</a:t>
            </a:r>
            <a:r>
              <a:rPr lang="en-US" b="1" i="0" dirty="0">
                <a:solidFill>
                  <a:srgbClr val="004B78"/>
                </a:solidFill>
                <a:effectLst/>
                <a:latin typeface="Arial" panose="020B0604020202020204" pitchFamily="34" charset="0"/>
                <a:cs typeface="Arial" panose="020B0604020202020204" pitchFamily="34" charset="0"/>
              </a:rPr>
              <a:t> Geral</a:t>
            </a:r>
            <a:endParaRPr lang="en-US" b="1" i="0" dirty="0">
              <a:solidFill>
                <a:schemeClr val="bg1">
                  <a:lumMod val="50000"/>
                </a:schemeClr>
              </a:solidFill>
              <a:effectLst/>
              <a:latin typeface="Arial" panose="020B0604020202020204" pitchFamily="34" charset="0"/>
              <a:cs typeface="Arial" panose="020B0604020202020204" pitchFamily="34" charset="0"/>
            </a:endParaRPr>
          </a:p>
        </p:txBody>
      </p:sp>
      <p:sp>
        <p:nvSpPr>
          <p:cNvPr id="17" name="Retângulo 16">
            <a:extLst>
              <a:ext uri="{FF2B5EF4-FFF2-40B4-BE49-F238E27FC236}">
                <a16:creationId xmlns:a16="http://schemas.microsoft.com/office/drawing/2014/main" id="{E80A95F7-236F-7531-74D0-9ABC96164A68}"/>
              </a:ext>
            </a:extLst>
          </p:cNvPr>
          <p:cNvSpPr/>
          <p:nvPr/>
        </p:nvSpPr>
        <p:spPr>
          <a:xfrm>
            <a:off x="3767320" y="4022622"/>
            <a:ext cx="2685868"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Abordagens</a:t>
            </a:r>
            <a:r>
              <a:rPr lang="en-US" b="1" i="0" dirty="0">
                <a:solidFill>
                  <a:srgbClr val="004B78"/>
                </a:solidFill>
                <a:effectLst/>
                <a:latin typeface="Arial" panose="020B0604020202020204" pitchFamily="34" charset="0"/>
                <a:cs typeface="Arial" panose="020B0604020202020204" pitchFamily="34" charset="0"/>
              </a:rPr>
              <a:t> </a:t>
            </a:r>
            <a:r>
              <a:rPr lang="en-US" b="1" i="0" dirty="0" err="1">
                <a:solidFill>
                  <a:srgbClr val="004B78"/>
                </a:solidFill>
                <a:effectLst/>
                <a:latin typeface="Arial" panose="020B0604020202020204" pitchFamily="34" charset="0"/>
                <a:cs typeface="Arial" panose="020B0604020202020204" pitchFamily="34" charset="0"/>
              </a:rPr>
              <a:t>Adotadas</a:t>
            </a:r>
            <a:endParaRPr lang="en-US" sz="1400" b="1" i="0" dirty="0">
              <a:solidFill>
                <a:schemeClr val="bg1">
                  <a:lumMod val="50000"/>
                </a:schemeClr>
              </a:solidFill>
              <a:effectLst/>
              <a:latin typeface="Arial" panose="020B0604020202020204" pitchFamily="34" charset="0"/>
              <a:cs typeface="Arial" panose="020B0604020202020204" pitchFamily="34" charset="0"/>
            </a:endParaRPr>
          </a:p>
        </p:txBody>
      </p:sp>
      <p:sp>
        <p:nvSpPr>
          <p:cNvPr id="18" name="Retângulo 17">
            <a:extLst>
              <a:ext uri="{FF2B5EF4-FFF2-40B4-BE49-F238E27FC236}">
                <a16:creationId xmlns:a16="http://schemas.microsoft.com/office/drawing/2014/main" id="{56B2E0B1-FD65-9ABE-B54C-0C8B3D03AA6F}"/>
              </a:ext>
            </a:extLst>
          </p:cNvPr>
          <p:cNvSpPr/>
          <p:nvPr/>
        </p:nvSpPr>
        <p:spPr>
          <a:xfrm>
            <a:off x="2797625" y="3912879"/>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05.</a:t>
            </a:r>
          </a:p>
        </p:txBody>
      </p:sp>
      <p:sp>
        <p:nvSpPr>
          <p:cNvPr id="5" name="Retângulo 4">
            <a:extLst>
              <a:ext uri="{FF2B5EF4-FFF2-40B4-BE49-F238E27FC236}">
                <a16:creationId xmlns:a16="http://schemas.microsoft.com/office/drawing/2014/main" id="{D530E86D-76D3-9D8A-F388-9C2FDF22865E}"/>
              </a:ext>
            </a:extLst>
          </p:cNvPr>
          <p:cNvSpPr/>
          <p:nvPr/>
        </p:nvSpPr>
        <p:spPr>
          <a:xfrm>
            <a:off x="6453188" y="1499668"/>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06.</a:t>
            </a:r>
          </a:p>
        </p:txBody>
      </p:sp>
      <p:sp>
        <p:nvSpPr>
          <p:cNvPr id="6" name="Retângulo 5">
            <a:extLst>
              <a:ext uri="{FF2B5EF4-FFF2-40B4-BE49-F238E27FC236}">
                <a16:creationId xmlns:a16="http://schemas.microsoft.com/office/drawing/2014/main" id="{1D2B71B9-3BFB-C2B4-A5B8-D335950DC7E8}"/>
              </a:ext>
            </a:extLst>
          </p:cNvPr>
          <p:cNvSpPr/>
          <p:nvPr/>
        </p:nvSpPr>
        <p:spPr>
          <a:xfrm>
            <a:off x="6453188" y="2105453"/>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07.</a:t>
            </a:r>
          </a:p>
        </p:txBody>
      </p:sp>
      <p:sp>
        <p:nvSpPr>
          <p:cNvPr id="7" name="Retângulo 6">
            <a:extLst>
              <a:ext uri="{FF2B5EF4-FFF2-40B4-BE49-F238E27FC236}">
                <a16:creationId xmlns:a16="http://schemas.microsoft.com/office/drawing/2014/main" id="{66967AD6-D662-FC40-228D-0F03BCE5295B}"/>
              </a:ext>
            </a:extLst>
          </p:cNvPr>
          <p:cNvSpPr/>
          <p:nvPr/>
        </p:nvSpPr>
        <p:spPr>
          <a:xfrm>
            <a:off x="6453188" y="2708371"/>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08.</a:t>
            </a:r>
          </a:p>
        </p:txBody>
      </p:sp>
      <p:sp>
        <p:nvSpPr>
          <p:cNvPr id="16" name="Retângulo 15">
            <a:extLst>
              <a:ext uri="{FF2B5EF4-FFF2-40B4-BE49-F238E27FC236}">
                <a16:creationId xmlns:a16="http://schemas.microsoft.com/office/drawing/2014/main" id="{BAAD3FED-28AF-FC2B-0C60-09ACA4D44774}"/>
              </a:ext>
            </a:extLst>
          </p:cNvPr>
          <p:cNvSpPr/>
          <p:nvPr/>
        </p:nvSpPr>
        <p:spPr>
          <a:xfrm>
            <a:off x="6453188" y="3315765"/>
            <a:ext cx="969695" cy="553998"/>
          </a:xfrm>
          <a:prstGeom prst="rect">
            <a:avLst/>
          </a:prstGeom>
        </p:spPr>
        <p:txBody>
          <a:bodyPr wrap="square">
            <a:spAutoFit/>
          </a:bodyPr>
          <a:lstStyle/>
          <a:p>
            <a:pPr algn="r"/>
            <a:r>
              <a:rPr lang="en-US" sz="3000" b="1" i="0" dirty="0">
                <a:solidFill>
                  <a:srgbClr val="004B78"/>
                </a:solidFill>
                <a:effectLst/>
                <a:latin typeface="Arial" panose="020B0604020202020204" pitchFamily="34" charset="0"/>
                <a:cs typeface="Arial" panose="020B0604020202020204" pitchFamily="34" charset="0"/>
              </a:rPr>
              <a:t>09.</a:t>
            </a:r>
          </a:p>
        </p:txBody>
      </p:sp>
      <p:sp>
        <p:nvSpPr>
          <p:cNvPr id="19" name="Retângulo 18">
            <a:extLst>
              <a:ext uri="{FF2B5EF4-FFF2-40B4-BE49-F238E27FC236}">
                <a16:creationId xmlns:a16="http://schemas.microsoft.com/office/drawing/2014/main" id="{7C0AB03D-4417-CD66-8F55-AFF7060A7952}"/>
              </a:ext>
            </a:extLst>
          </p:cNvPr>
          <p:cNvSpPr/>
          <p:nvPr/>
        </p:nvSpPr>
        <p:spPr>
          <a:xfrm>
            <a:off x="7496286" y="1615480"/>
            <a:ext cx="2636877"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Tecnologias</a:t>
            </a:r>
            <a:endParaRPr lang="pt-BR" sz="1400" dirty="0">
              <a:solidFill>
                <a:srgbClr val="004B78"/>
              </a:solidFill>
              <a:latin typeface="Arial" panose="020B0604020202020204" pitchFamily="34" charset="0"/>
              <a:cs typeface="Arial" panose="020B0604020202020204" pitchFamily="34" charset="0"/>
            </a:endParaRPr>
          </a:p>
        </p:txBody>
      </p:sp>
      <p:sp>
        <p:nvSpPr>
          <p:cNvPr id="20" name="Retângulo 19">
            <a:extLst>
              <a:ext uri="{FF2B5EF4-FFF2-40B4-BE49-F238E27FC236}">
                <a16:creationId xmlns:a16="http://schemas.microsoft.com/office/drawing/2014/main" id="{8F59C6A3-AB1A-F964-C09E-6894A510ACA6}"/>
              </a:ext>
            </a:extLst>
          </p:cNvPr>
          <p:cNvSpPr/>
          <p:nvPr/>
        </p:nvSpPr>
        <p:spPr>
          <a:xfrm>
            <a:off x="7499782" y="2217424"/>
            <a:ext cx="2636877"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Estratégias</a:t>
            </a:r>
            <a:r>
              <a:rPr lang="en-US" b="1" i="0" dirty="0">
                <a:solidFill>
                  <a:srgbClr val="004B78"/>
                </a:solidFill>
                <a:effectLst/>
                <a:latin typeface="Arial" panose="020B0604020202020204" pitchFamily="34" charset="0"/>
                <a:cs typeface="Arial" panose="020B0604020202020204" pitchFamily="34" charset="0"/>
              </a:rPr>
              <a:t> </a:t>
            </a:r>
            <a:r>
              <a:rPr lang="en-US" b="1" i="0" dirty="0" err="1">
                <a:solidFill>
                  <a:srgbClr val="004B78"/>
                </a:solidFill>
                <a:effectLst/>
                <a:latin typeface="Arial" panose="020B0604020202020204" pitchFamily="34" charset="0"/>
                <a:cs typeface="Arial" panose="020B0604020202020204" pitchFamily="34" charset="0"/>
              </a:rPr>
              <a:t>Adotadas</a:t>
            </a:r>
            <a:endParaRPr lang="pt-BR" sz="1400" dirty="0">
              <a:solidFill>
                <a:srgbClr val="004B78"/>
              </a:solidFill>
              <a:latin typeface="Arial" panose="020B0604020202020204" pitchFamily="34" charset="0"/>
              <a:cs typeface="Arial" panose="020B0604020202020204" pitchFamily="34" charset="0"/>
            </a:endParaRPr>
          </a:p>
        </p:txBody>
      </p:sp>
      <p:sp>
        <p:nvSpPr>
          <p:cNvPr id="21" name="Retângulo 20">
            <a:extLst>
              <a:ext uri="{FF2B5EF4-FFF2-40B4-BE49-F238E27FC236}">
                <a16:creationId xmlns:a16="http://schemas.microsoft.com/office/drawing/2014/main" id="{619A6E02-DD01-C7DC-217C-35572199C0E4}"/>
              </a:ext>
            </a:extLst>
          </p:cNvPr>
          <p:cNvSpPr/>
          <p:nvPr/>
        </p:nvSpPr>
        <p:spPr>
          <a:xfrm>
            <a:off x="7496286" y="2822260"/>
            <a:ext cx="2636877"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Resultados</a:t>
            </a:r>
            <a:endParaRPr lang="pt-BR" sz="1400" dirty="0">
              <a:solidFill>
                <a:srgbClr val="004B78"/>
              </a:solidFill>
              <a:latin typeface="Arial" panose="020B0604020202020204" pitchFamily="34" charset="0"/>
              <a:cs typeface="Arial" panose="020B0604020202020204" pitchFamily="34" charset="0"/>
            </a:endParaRPr>
          </a:p>
        </p:txBody>
      </p:sp>
      <p:sp>
        <p:nvSpPr>
          <p:cNvPr id="22" name="Retângulo 21">
            <a:extLst>
              <a:ext uri="{FF2B5EF4-FFF2-40B4-BE49-F238E27FC236}">
                <a16:creationId xmlns:a16="http://schemas.microsoft.com/office/drawing/2014/main" id="{20E13278-5C35-578D-0638-1FC5488D6647}"/>
              </a:ext>
            </a:extLst>
          </p:cNvPr>
          <p:cNvSpPr/>
          <p:nvPr/>
        </p:nvSpPr>
        <p:spPr>
          <a:xfrm>
            <a:off x="7496286" y="3420678"/>
            <a:ext cx="2636877" cy="369332"/>
          </a:xfrm>
          <a:prstGeom prst="rect">
            <a:avLst/>
          </a:prstGeom>
        </p:spPr>
        <p:txBody>
          <a:bodyPr wrap="square">
            <a:spAutoFit/>
          </a:bodyPr>
          <a:lstStyle/>
          <a:p>
            <a:r>
              <a:rPr lang="en-US" b="1" i="0" dirty="0" err="1">
                <a:solidFill>
                  <a:srgbClr val="004B78"/>
                </a:solidFill>
                <a:effectLst/>
                <a:latin typeface="Arial" panose="020B0604020202020204" pitchFamily="34" charset="0"/>
                <a:cs typeface="Arial" panose="020B0604020202020204" pitchFamily="34" charset="0"/>
              </a:rPr>
              <a:t>Próximos</a:t>
            </a:r>
            <a:r>
              <a:rPr lang="en-US" b="1" i="0" dirty="0">
                <a:solidFill>
                  <a:srgbClr val="004B78"/>
                </a:solidFill>
                <a:effectLst/>
                <a:latin typeface="Arial" panose="020B0604020202020204" pitchFamily="34" charset="0"/>
                <a:cs typeface="Arial" panose="020B0604020202020204" pitchFamily="34" charset="0"/>
              </a:rPr>
              <a:t> Passos</a:t>
            </a:r>
            <a:endParaRPr lang="pt-BR" sz="1400" dirty="0">
              <a:solidFill>
                <a:srgbClr val="004B7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3753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E43B647D-ED87-4C4C-9501-E39B9ACA7BB3}"/>
              </a:ext>
            </a:extLst>
          </p:cNvPr>
          <p:cNvSpPr/>
          <p:nvPr/>
        </p:nvSpPr>
        <p:spPr>
          <a:xfrm>
            <a:off x="0" y="0"/>
            <a:ext cx="4787900" cy="6858000"/>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descr="Pessoas sentadas ao redor de uma mesa&#10;&#10;Descrição gerada automaticamente">
            <a:extLst>
              <a:ext uri="{FF2B5EF4-FFF2-40B4-BE49-F238E27FC236}">
                <a16:creationId xmlns:a16="http://schemas.microsoft.com/office/drawing/2014/main" id="{EB7D01D3-5E92-AF40-BBC3-118181FAA314}"/>
              </a:ext>
            </a:extLst>
          </p:cNvPr>
          <p:cNvPicPr>
            <a:picLocks noChangeAspect="1"/>
          </p:cNvPicPr>
          <p:nvPr/>
        </p:nvPicPr>
        <p:blipFill rotWithShape="1">
          <a:blip r:embed="rId2">
            <a:extLst>
              <a:ext uri="{28A0092B-C50C-407E-A947-70E740481C1C}">
                <a14:useLocalDpi xmlns:a14="http://schemas.microsoft.com/office/drawing/2010/main" val="0"/>
              </a:ext>
            </a:extLst>
          </a:blip>
          <a:srcRect l="21205" r="21205"/>
          <a:stretch/>
        </p:blipFill>
        <p:spPr>
          <a:xfrm>
            <a:off x="1022913" y="1976854"/>
            <a:ext cx="4140200" cy="4043917"/>
          </a:xfrm>
          <a:prstGeom prst="rect">
            <a:avLst/>
          </a:prstGeom>
        </p:spPr>
      </p:pic>
      <p:sp>
        <p:nvSpPr>
          <p:cNvPr id="24" name="TextBox 11">
            <a:extLst>
              <a:ext uri="{FF2B5EF4-FFF2-40B4-BE49-F238E27FC236}">
                <a16:creationId xmlns:a16="http://schemas.microsoft.com/office/drawing/2014/main" id="{AD7A561B-D2A9-4F17-A68A-B1220D0B07C9}"/>
              </a:ext>
            </a:extLst>
          </p:cNvPr>
          <p:cNvSpPr txBox="1"/>
          <p:nvPr/>
        </p:nvSpPr>
        <p:spPr>
          <a:xfrm>
            <a:off x="5496598" y="1982297"/>
            <a:ext cx="6285635" cy="461665"/>
          </a:xfrm>
          <a:prstGeom prst="rect">
            <a:avLst/>
          </a:prstGeom>
        </p:spPr>
        <p:txBody>
          <a:bodyPr wrap="square" lIns="0" tIns="0" rIns="0" bIns="0" rtlCol="0" anchor="t">
            <a:spAutoFit/>
          </a:bodyPr>
          <a:lstStyle/>
          <a:p>
            <a:pPr fontAlgn="t"/>
            <a:r>
              <a:rPr lang="en-US" sz="3000" b="1" dirty="0">
                <a:solidFill>
                  <a:srgbClr val="004B78"/>
                </a:solidFill>
                <a:latin typeface="Arial" panose="020B0604020202020204" pitchFamily="34" charset="0"/>
                <a:cs typeface="Arial" panose="020B0604020202020204" pitchFamily="34" charset="0"/>
              </a:rPr>
              <a:t>01. </a:t>
            </a:r>
            <a:r>
              <a:rPr lang="en-US" sz="3000" b="1" dirty="0" err="1">
                <a:solidFill>
                  <a:srgbClr val="004B78"/>
                </a:solidFill>
                <a:latin typeface="Arial" panose="020B0604020202020204" pitchFamily="34" charset="0"/>
                <a:cs typeface="Arial" panose="020B0604020202020204" pitchFamily="34" charset="0"/>
              </a:rPr>
              <a:t>Introdução</a:t>
            </a:r>
            <a:endParaRPr lang="en-US" sz="3000" b="1" dirty="0">
              <a:solidFill>
                <a:srgbClr val="004B78"/>
              </a:solidFill>
              <a:latin typeface="Arial" panose="020B0604020202020204" pitchFamily="34" charset="0"/>
              <a:cs typeface="Arial" panose="020B0604020202020204" pitchFamily="34" charset="0"/>
            </a:endParaRPr>
          </a:p>
        </p:txBody>
      </p:sp>
      <p:pic>
        <p:nvPicPr>
          <p:cNvPr id="11" name="Imagem 10" descr="Logotipo&#10;&#10;Descrição gerada automaticamente">
            <a:extLst>
              <a:ext uri="{FF2B5EF4-FFF2-40B4-BE49-F238E27FC236}">
                <a16:creationId xmlns:a16="http://schemas.microsoft.com/office/drawing/2014/main" id="{09162ED6-3773-40F4-871F-8408BDC42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82" y="652385"/>
            <a:ext cx="2124958" cy="826127"/>
          </a:xfrm>
          <a:prstGeom prst="rect">
            <a:avLst/>
          </a:prstGeom>
        </p:spPr>
      </p:pic>
      <p:pic>
        <p:nvPicPr>
          <p:cNvPr id="3" name="Imagem 2">
            <a:extLst>
              <a:ext uri="{FF2B5EF4-FFF2-40B4-BE49-F238E27FC236}">
                <a16:creationId xmlns:a16="http://schemas.microsoft.com/office/drawing/2014/main" id="{F9DE058F-DDEC-46DC-BADB-7C7B97180E4A}"/>
              </a:ext>
            </a:extLst>
          </p:cNvPr>
          <p:cNvPicPr>
            <a:picLocks noChangeAspect="1"/>
          </p:cNvPicPr>
          <p:nvPr/>
        </p:nvPicPr>
        <p:blipFill rotWithShape="1">
          <a:blip r:embed="rId4">
            <a:extLst>
              <a:ext uri="{28A0092B-C50C-407E-A947-70E740481C1C}">
                <a14:useLocalDpi xmlns:a14="http://schemas.microsoft.com/office/drawing/2010/main" val="0"/>
              </a:ext>
            </a:extLst>
          </a:blip>
          <a:srcRect l="41426" t="2755" b="-59857"/>
          <a:stretch/>
        </p:blipFill>
        <p:spPr>
          <a:xfrm>
            <a:off x="5113782" y="6439988"/>
            <a:ext cx="6710178" cy="284662"/>
          </a:xfrm>
          <a:prstGeom prst="rect">
            <a:avLst/>
          </a:prstGeom>
        </p:spPr>
      </p:pic>
      <p:sp>
        <p:nvSpPr>
          <p:cNvPr id="15" name="Retângulo 14">
            <a:extLst>
              <a:ext uri="{FF2B5EF4-FFF2-40B4-BE49-F238E27FC236}">
                <a16:creationId xmlns:a16="http://schemas.microsoft.com/office/drawing/2014/main" id="{6AEF939F-5600-4DD8-A056-D76CACF4EEE4}"/>
              </a:ext>
            </a:extLst>
          </p:cNvPr>
          <p:cNvSpPr/>
          <p:nvPr/>
        </p:nvSpPr>
        <p:spPr>
          <a:xfrm>
            <a:off x="5496598" y="2880766"/>
            <a:ext cx="6054846" cy="2246769"/>
          </a:xfrm>
          <a:prstGeom prst="rect">
            <a:avLst/>
          </a:prstGeom>
        </p:spPr>
        <p:txBody>
          <a:bodyPr wrap="square">
            <a:spAutoFit/>
          </a:bodyPr>
          <a:lstStyle/>
          <a:p>
            <a:r>
              <a:rPr lang="pt-BR" sz="1400" dirty="0">
                <a:solidFill>
                  <a:schemeClr val="bg1">
                    <a:lumMod val="50000"/>
                  </a:schemeClr>
                </a:solidFill>
                <a:latin typeface="Arial" panose="020B0604020202020204" pitchFamily="34" charset="0"/>
                <a:cs typeface="Arial" panose="020B0604020202020204" pitchFamily="34" charset="0"/>
              </a:rPr>
              <a:t>	O objetivo principal é desenvolver um sistema que supere limitações de modelos estáticos através de aprendizado contínuo. A arquitetura proposta combina detecção (YOLO), classificação (</a:t>
            </a:r>
            <a:r>
              <a:rPr lang="pt-BR" sz="1400" dirty="0" err="1">
                <a:solidFill>
                  <a:schemeClr val="bg1">
                    <a:lumMod val="50000"/>
                  </a:schemeClr>
                </a:solidFill>
                <a:latin typeface="Arial" panose="020B0604020202020204" pitchFamily="34" charset="0"/>
                <a:cs typeface="Arial" panose="020B0604020202020204" pitchFamily="34" charset="0"/>
              </a:rPr>
              <a:t>Keras</a:t>
            </a:r>
            <a:r>
              <a:rPr lang="pt-BR" sz="1400" dirty="0">
                <a:solidFill>
                  <a:schemeClr val="bg1">
                    <a:lumMod val="50000"/>
                  </a:schemeClr>
                </a:solidFill>
                <a:latin typeface="Arial" panose="020B0604020202020204" pitchFamily="34" charset="0"/>
                <a:cs typeface="Arial" panose="020B0604020202020204" pitchFamily="34" charset="0"/>
              </a:rPr>
              <a:t> CNN) e raciocínio simbólico (</a:t>
            </a:r>
            <a:r>
              <a:rPr lang="pt-BR" sz="1400" dirty="0" err="1">
                <a:solidFill>
                  <a:schemeClr val="bg1">
                    <a:lumMod val="50000"/>
                  </a:schemeClr>
                </a:solidFill>
                <a:latin typeface="Arial" panose="020B0604020202020204" pitchFamily="34" charset="0"/>
                <a:cs typeface="Arial" panose="020B0604020202020204" pitchFamily="34" charset="0"/>
              </a:rPr>
              <a:t>IntuitionEngine</a:t>
            </a:r>
            <a:r>
              <a:rPr lang="pt-BR" sz="1400" dirty="0">
                <a:solidFill>
                  <a:schemeClr val="bg1">
                    <a:lumMod val="50000"/>
                  </a:schemeClr>
                </a:solidFill>
                <a:latin typeface="Arial" panose="020B0604020202020204" pitchFamily="34" charset="0"/>
                <a:cs typeface="Arial" panose="020B0604020202020204" pitchFamily="34" charset="0"/>
              </a:rPr>
              <a:t>) em pipeline integrado. O sistema detecta automaticamente quando encontra fronteiras do conhecimento, gera anotações via </a:t>
            </a:r>
            <a:r>
              <a:rPr lang="pt-BR" sz="1400" dirty="0" err="1">
                <a:solidFill>
                  <a:schemeClr val="bg1">
                    <a:lumMod val="50000"/>
                  </a:schemeClr>
                </a:solidFill>
                <a:latin typeface="Arial" panose="020B0604020202020204" pitchFamily="34" charset="0"/>
                <a:cs typeface="Arial" panose="020B0604020202020204" pitchFamily="34" charset="0"/>
              </a:rPr>
              <a:t>Grad</a:t>
            </a:r>
            <a:r>
              <a:rPr lang="pt-BR" sz="1400" dirty="0">
                <a:solidFill>
                  <a:schemeClr val="bg1">
                    <a:lumMod val="50000"/>
                  </a:schemeClr>
                </a:solidFill>
                <a:latin typeface="Arial" panose="020B0604020202020204" pitchFamily="34" charset="0"/>
                <a:cs typeface="Arial" panose="020B0604020202020204" pitchFamily="34" charset="0"/>
              </a:rPr>
              <a:t>-CAM, e valida através de validação híbrida (APIs e/ou análise humana), criando ciclo de </a:t>
            </a:r>
            <a:r>
              <a:rPr lang="pt-BR" sz="1400" dirty="0" err="1">
                <a:solidFill>
                  <a:schemeClr val="bg1">
                    <a:lumMod val="50000"/>
                  </a:schemeClr>
                </a:solidFill>
                <a:latin typeface="Arial" panose="020B0604020202020204" pitchFamily="34" charset="0"/>
                <a:cs typeface="Arial" panose="020B0604020202020204" pitchFamily="34" charset="0"/>
              </a:rPr>
              <a:t>auto-melhoria</a:t>
            </a:r>
            <a:r>
              <a:rPr lang="pt-BR" sz="1400" dirty="0">
                <a:solidFill>
                  <a:schemeClr val="bg1">
                    <a:lumMod val="50000"/>
                  </a:schemeClr>
                </a:solidFill>
                <a:latin typeface="Arial" panose="020B0604020202020204" pitchFamily="34" charset="0"/>
                <a:cs typeface="Arial" panose="020B0604020202020204" pitchFamily="34" charset="0"/>
              </a:rPr>
              <a:t>.</a:t>
            </a:r>
          </a:p>
          <a:p>
            <a:endParaRPr lang="pt-BR" sz="1400" dirty="0">
              <a:solidFill>
                <a:schemeClr val="bg1">
                  <a:lumMod val="50000"/>
                </a:schemeClr>
              </a:solidFill>
              <a:latin typeface="Arial" panose="020B0604020202020204" pitchFamily="34" charset="0"/>
              <a:cs typeface="Arial" panose="020B0604020202020204" pitchFamily="34" charset="0"/>
            </a:endParaRPr>
          </a:p>
          <a:p>
            <a:r>
              <a:rPr lang="pt-BR" sz="1400" dirty="0">
                <a:solidFill>
                  <a:schemeClr val="bg1">
                    <a:lumMod val="50000"/>
                  </a:schemeClr>
                </a:solidFill>
                <a:latin typeface="Arial" panose="020B0604020202020204" pitchFamily="34" charset="0"/>
                <a:cs typeface="Arial" panose="020B0604020202020204" pitchFamily="34" charset="0"/>
              </a:rPr>
              <a:t>	 A base de pássaros foi escolhida como piloto por ter dados públicos para utilização e simples pré-preparo para a inicialização do projeto.</a:t>
            </a:r>
          </a:p>
        </p:txBody>
      </p:sp>
      <p:sp>
        <p:nvSpPr>
          <p:cNvPr id="5" name="CaixaDeTexto 4">
            <a:extLst>
              <a:ext uri="{FF2B5EF4-FFF2-40B4-BE49-F238E27FC236}">
                <a16:creationId xmlns:a16="http://schemas.microsoft.com/office/drawing/2014/main" id="{EB4FF163-85D7-E262-1CCB-C893DE4CD18B}"/>
              </a:ext>
            </a:extLst>
          </p:cNvPr>
          <p:cNvSpPr txBox="1"/>
          <p:nvPr/>
        </p:nvSpPr>
        <p:spPr>
          <a:xfrm>
            <a:off x="8125097" y="2177143"/>
            <a:ext cx="184731" cy="369332"/>
          </a:xfrm>
          <a:prstGeom prst="rect">
            <a:avLst/>
          </a:prstGeom>
          <a:noFill/>
        </p:spPr>
        <p:txBody>
          <a:bodyPr wrap="none" rtlCol="0">
            <a:spAutoFit/>
          </a:bodyPr>
          <a:lstStyle/>
          <a:p>
            <a:endParaRPr lang="pt-BR" dirty="0"/>
          </a:p>
        </p:txBody>
      </p:sp>
    </p:spTree>
    <p:extLst>
      <p:ext uri="{BB962C8B-B14F-4D97-AF65-F5344CB8AC3E}">
        <p14:creationId xmlns:p14="http://schemas.microsoft.com/office/powerpoint/2010/main" val="3179717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11">
            <a:extLst>
              <a:ext uri="{FF2B5EF4-FFF2-40B4-BE49-F238E27FC236}">
                <a16:creationId xmlns:a16="http://schemas.microsoft.com/office/drawing/2014/main" id="{AD7A561B-D2A9-4F17-A68A-B1220D0B07C9}"/>
              </a:ext>
            </a:extLst>
          </p:cNvPr>
          <p:cNvSpPr txBox="1"/>
          <p:nvPr/>
        </p:nvSpPr>
        <p:spPr>
          <a:xfrm>
            <a:off x="3191809" y="1770140"/>
            <a:ext cx="6285635" cy="461665"/>
          </a:xfrm>
          <a:prstGeom prst="rect">
            <a:avLst/>
          </a:prstGeom>
        </p:spPr>
        <p:txBody>
          <a:bodyPr wrap="square" lIns="0" tIns="0" rIns="0" bIns="0" rtlCol="0" anchor="t">
            <a:spAutoFit/>
          </a:bodyPr>
          <a:lstStyle/>
          <a:p>
            <a:pPr fontAlgn="t"/>
            <a:r>
              <a:rPr lang="en-US" sz="3000" b="1" dirty="0">
                <a:solidFill>
                  <a:srgbClr val="004B78"/>
                </a:solidFill>
                <a:latin typeface="Arial" panose="020B0604020202020204" pitchFamily="34" charset="0"/>
                <a:cs typeface="Arial" panose="020B0604020202020204" pitchFamily="34" charset="0"/>
              </a:rPr>
              <a:t>01. </a:t>
            </a:r>
            <a:r>
              <a:rPr lang="en-US" sz="3000" b="1" dirty="0" err="1">
                <a:solidFill>
                  <a:srgbClr val="004B78"/>
                </a:solidFill>
                <a:latin typeface="Arial" panose="020B0604020202020204" pitchFamily="34" charset="0"/>
                <a:cs typeface="Arial" panose="020B0604020202020204" pitchFamily="34" charset="0"/>
              </a:rPr>
              <a:t>Introdução</a:t>
            </a:r>
            <a:endParaRPr lang="en-US" sz="3000" b="1" dirty="0">
              <a:solidFill>
                <a:srgbClr val="004B78"/>
              </a:solidFill>
              <a:latin typeface="Arial" panose="020B0604020202020204" pitchFamily="34" charset="0"/>
              <a:cs typeface="Arial" panose="020B0604020202020204" pitchFamily="34" charset="0"/>
            </a:endParaRPr>
          </a:p>
        </p:txBody>
      </p:sp>
      <p:sp>
        <p:nvSpPr>
          <p:cNvPr id="15" name="Retângulo 14">
            <a:extLst>
              <a:ext uri="{FF2B5EF4-FFF2-40B4-BE49-F238E27FC236}">
                <a16:creationId xmlns:a16="http://schemas.microsoft.com/office/drawing/2014/main" id="{6AEF939F-5600-4DD8-A056-D76CACF4EEE4}"/>
              </a:ext>
            </a:extLst>
          </p:cNvPr>
          <p:cNvSpPr/>
          <p:nvPr/>
        </p:nvSpPr>
        <p:spPr>
          <a:xfrm>
            <a:off x="3191809" y="2769248"/>
            <a:ext cx="7256555" cy="3108543"/>
          </a:xfrm>
          <a:prstGeom prst="rect">
            <a:avLst/>
          </a:prstGeom>
        </p:spPr>
        <p:txBody>
          <a:bodyPr wrap="square">
            <a:spAutoFit/>
          </a:bodyPr>
          <a:lstStyle/>
          <a:p>
            <a:r>
              <a:rPr lang="pt-BR" sz="1400" dirty="0">
                <a:solidFill>
                  <a:schemeClr val="bg1">
                    <a:lumMod val="50000"/>
                  </a:schemeClr>
                </a:solidFill>
                <a:latin typeface="Arial" panose="020B0604020202020204" pitchFamily="34" charset="0"/>
                <a:cs typeface="Arial" panose="020B0604020202020204" pitchFamily="34" charset="0"/>
              </a:rPr>
              <a:t>Motivação:</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Identificação automática de espécies de pássaros em imagens;</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Necessidade de sistemas que aprendem continuamente com novos dados;</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Desafio técnico: combinar detecção visual com raciocínio simbólico para se aproximar de um sistema de intuição;</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Desafio filosófico: uma inteligência artificial seria capaz de raciocinar e ter intuições similares as humanas?</a:t>
            </a:r>
          </a:p>
          <a:p>
            <a:br>
              <a:rPr lang="pt-BR" sz="1400" dirty="0">
                <a:solidFill>
                  <a:schemeClr val="bg1">
                    <a:lumMod val="50000"/>
                  </a:schemeClr>
                </a:solidFill>
                <a:latin typeface="Arial" panose="020B0604020202020204" pitchFamily="34" charset="0"/>
                <a:cs typeface="Arial" panose="020B0604020202020204" pitchFamily="34" charset="0"/>
              </a:rPr>
            </a:br>
            <a:endParaRPr lang="pt-BR" sz="1400" dirty="0">
              <a:solidFill>
                <a:schemeClr val="bg1">
                  <a:lumMod val="50000"/>
                </a:schemeClr>
              </a:solidFill>
              <a:latin typeface="Arial" panose="020B0604020202020204" pitchFamily="34" charset="0"/>
              <a:cs typeface="Arial" panose="020B0604020202020204" pitchFamily="34" charset="0"/>
            </a:endParaRPr>
          </a:p>
          <a:p>
            <a:r>
              <a:rPr lang="pt-BR" sz="1400" dirty="0">
                <a:solidFill>
                  <a:schemeClr val="bg1">
                    <a:lumMod val="50000"/>
                  </a:schemeClr>
                </a:solidFill>
                <a:latin typeface="Arial" panose="020B0604020202020204" pitchFamily="34" charset="0"/>
                <a:cs typeface="Arial" panose="020B0604020202020204" pitchFamily="34" charset="0"/>
              </a:rPr>
              <a:t>Escopo:</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Sistema híbrido que combina redes neurais (YOLO, </a:t>
            </a:r>
            <a:r>
              <a:rPr lang="pt-BR" sz="1400" dirty="0" err="1">
                <a:solidFill>
                  <a:schemeClr val="bg1">
                    <a:lumMod val="50000"/>
                  </a:schemeClr>
                </a:solidFill>
                <a:latin typeface="Arial" panose="020B0604020202020204" pitchFamily="34" charset="0"/>
                <a:cs typeface="Arial" panose="020B0604020202020204" pitchFamily="34" charset="0"/>
              </a:rPr>
              <a:t>Keras</a:t>
            </a:r>
            <a:r>
              <a:rPr lang="pt-BR" sz="1400" dirty="0">
                <a:solidFill>
                  <a:schemeClr val="bg1">
                    <a:lumMod val="50000"/>
                  </a:schemeClr>
                </a:solidFill>
                <a:latin typeface="Arial" panose="020B0604020202020204" pitchFamily="34" charset="0"/>
                <a:cs typeface="Arial" panose="020B0604020202020204" pitchFamily="34" charset="0"/>
              </a:rPr>
              <a:t>) com raciocínio lógico</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Detecção automática de características fundamentais (bico, penas, garras, olhos)</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Aprendizado contínuo com feedback humano e automático</a:t>
            </a:r>
          </a:p>
          <a:p>
            <a:pPr marL="285750" indent="-285750">
              <a:buFont typeface="Arial" panose="020B0604020202020204" pitchFamily="34" charset="0"/>
              <a:buChar char="•"/>
            </a:pPr>
            <a:r>
              <a:rPr lang="pt-BR" sz="1400" dirty="0">
                <a:solidFill>
                  <a:schemeClr val="bg1">
                    <a:lumMod val="50000"/>
                  </a:schemeClr>
                </a:solidFill>
                <a:latin typeface="Arial" panose="020B0604020202020204" pitchFamily="34" charset="0"/>
                <a:cs typeface="Arial" panose="020B0604020202020204" pitchFamily="34" charset="0"/>
              </a:rPr>
              <a:t>Interface web intuitiva para análise e validação</a:t>
            </a:r>
          </a:p>
        </p:txBody>
      </p:sp>
      <p:sp>
        <p:nvSpPr>
          <p:cNvPr id="8" name="Retângulo 7">
            <a:extLst>
              <a:ext uri="{FF2B5EF4-FFF2-40B4-BE49-F238E27FC236}">
                <a16:creationId xmlns:a16="http://schemas.microsoft.com/office/drawing/2014/main" id="{A1A3EEE0-BB9C-7A40-929A-B799EB98B5F1}"/>
              </a:ext>
            </a:extLst>
          </p:cNvPr>
          <p:cNvSpPr/>
          <p:nvPr/>
        </p:nvSpPr>
        <p:spPr>
          <a:xfrm>
            <a:off x="0" y="0"/>
            <a:ext cx="2797629" cy="6858000"/>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 name="Imagem 9" descr="Logotipo&#10;&#10;Descrição gerada automaticamente">
            <a:extLst>
              <a:ext uri="{FF2B5EF4-FFF2-40B4-BE49-F238E27FC236}">
                <a16:creationId xmlns:a16="http://schemas.microsoft.com/office/drawing/2014/main" id="{768AD03D-B5CB-494C-9C02-348AAFCB5A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882" y="652385"/>
            <a:ext cx="2124958" cy="826127"/>
          </a:xfrm>
          <a:prstGeom prst="rect">
            <a:avLst/>
          </a:prstGeom>
        </p:spPr>
      </p:pic>
      <p:pic>
        <p:nvPicPr>
          <p:cNvPr id="14" name="Imagem 13">
            <a:extLst>
              <a:ext uri="{FF2B5EF4-FFF2-40B4-BE49-F238E27FC236}">
                <a16:creationId xmlns:a16="http://schemas.microsoft.com/office/drawing/2014/main" id="{AC8B50D2-95DB-AC41-80EF-EE3C026E5E0D}"/>
              </a:ext>
            </a:extLst>
          </p:cNvPr>
          <p:cNvPicPr>
            <a:picLocks noChangeAspect="1"/>
          </p:cNvPicPr>
          <p:nvPr/>
        </p:nvPicPr>
        <p:blipFill rotWithShape="1">
          <a:blip r:embed="rId3">
            <a:extLst>
              <a:ext uri="{28A0092B-C50C-407E-A947-70E740481C1C}">
                <a14:useLocalDpi xmlns:a14="http://schemas.microsoft.com/office/drawing/2010/main" val="0"/>
              </a:ext>
            </a:extLst>
          </a:blip>
          <a:srcRect l="24447" t="-227169" r="-1" b="-59858"/>
          <a:stretch/>
        </p:blipFill>
        <p:spPr>
          <a:xfrm>
            <a:off x="3168611" y="6023385"/>
            <a:ext cx="8655350" cy="701265"/>
          </a:xfrm>
          <a:prstGeom prst="rect">
            <a:avLst/>
          </a:prstGeom>
        </p:spPr>
      </p:pic>
    </p:spTree>
    <p:extLst>
      <p:ext uri="{BB962C8B-B14F-4D97-AF65-F5344CB8AC3E}">
        <p14:creationId xmlns:p14="http://schemas.microsoft.com/office/powerpoint/2010/main" val="919422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F9DE058F-DDEC-46DC-BADB-7C7B97180E4A}"/>
              </a:ext>
            </a:extLst>
          </p:cNvPr>
          <p:cNvPicPr>
            <a:picLocks noChangeAspect="1"/>
          </p:cNvPicPr>
          <p:nvPr/>
        </p:nvPicPr>
        <p:blipFill rotWithShape="1">
          <a:blip r:embed="rId2">
            <a:extLst>
              <a:ext uri="{28A0092B-C50C-407E-A947-70E740481C1C}">
                <a14:useLocalDpi xmlns:a14="http://schemas.microsoft.com/office/drawing/2010/main" val="0"/>
              </a:ext>
            </a:extLst>
          </a:blip>
          <a:srcRect l="3601" t="-118072" r="-1" b="-59853"/>
          <a:stretch/>
        </p:blipFill>
        <p:spPr>
          <a:xfrm>
            <a:off x="780711" y="6221047"/>
            <a:ext cx="11043248" cy="503604"/>
          </a:xfrm>
          <a:prstGeom prst="rect">
            <a:avLst/>
          </a:prstGeom>
        </p:spPr>
      </p:pic>
      <p:sp>
        <p:nvSpPr>
          <p:cNvPr id="15" name="Retângulo 14">
            <a:extLst>
              <a:ext uri="{FF2B5EF4-FFF2-40B4-BE49-F238E27FC236}">
                <a16:creationId xmlns:a16="http://schemas.microsoft.com/office/drawing/2014/main" id="{6AEF939F-5600-4DD8-A056-D76CACF4EEE4}"/>
              </a:ext>
            </a:extLst>
          </p:cNvPr>
          <p:cNvSpPr/>
          <p:nvPr/>
        </p:nvSpPr>
        <p:spPr>
          <a:xfrm>
            <a:off x="719017" y="1531889"/>
            <a:ext cx="10605475" cy="5047536"/>
          </a:xfrm>
          <a:prstGeom prst="rect">
            <a:avLst/>
          </a:prstGeom>
        </p:spPr>
        <p:txBody>
          <a:bodyPr wrap="square">
            <a:spAutoFit/>
          </a:bodyPr>
          <a:lstStyle/>
          <a:p>
            <a:r>
              <a:rPr lang="pt-BR" sz="1400" b="0" i="0" dirty="0">
                <a:solidFill>
                  <a:schemeClr val="bg1">
                    <a:lumMod val="50000"/>
                  </a:schemeClr>
                </a:solidFill>
                <a:effectLst/>
                <a:latin typeface="Arial" panose="020B0604020202020204" pitchFamily="34" charset="0"/>
                <a:cs typeface="Arial" panose="020B0604020202020204" pitchFamily="34" charset="0"/>
              </a:rPr>
              <a:t>	Limitação fundamental de sistemas de IA atuais: incapacidade de raciocinar e intuir como humanos. Sistemas tradicionais apenas processam dados fornecidos para treinamento, tomando decisões baseadas exclusivamente em padrões aprendidos. Não possuem:</a:t>
            </a:r>
          </a:p>
          <a:p>
            <a:pPr marL="342900" indent="-342900">
              <a:buFont typeface="+mj-lt"/>
              <a:buAutoNum type="arabicPeriod"/>
            </a:pPr>
            <a:r>
              <a:rPr lang="pt-BR" sz="1400" dirty="0">
                <a:solidFill>
                  <a:schemeClr val="bg1">
                    <a:lumMod val="50000"/>
                  </a:schemeClr>
                </a:solidFill>
                <a:latin typeface="Arial" panose="020B0604020202020204" pitchFamily="34" charset="0"/>
                <a:cs typeface="Arial" panose="020B0604020202020204" pitchFamily="34" charset="0"/>
              </a:rPr>
              <a:t>C</a:t>
            </a:r>
            <a:r>
              <a:rPr lang="pt-BR" sz="1400" b="0" i="0" dirty="0">
                <a:solidFill>
                  <a:schemeClr val="bg1">
                    <a:lumMod val="50000"/>
                  </a:schemeClr>
                </a:solidFill>
                <a:effectLst/>
                <a:latin typeface="Arial" panose="020B0604020202020204" pitchFamily="34" charset="0"/>
                <a:cs typeface="Arial" panose="020B0604020202020204" pitchFamily="34" charset="0"/>
              </a:rPr>
              <a:t>apacidade de raciocínio lógico sobre situações novas,</a:t>
            </a:r>
          </a:p>
          <a:p>
            <a:pPr marL="342900" indent="-342900">
              <a:buFont typeface="+mj-lt"/>
              <a:buAutoNum type="arabicPeriod"/>
            </a:pPr>
            <a:r>
              <a:rPr lang="pt-BR" sz="1400" dirty="0">
                <a:solidFill>
                  <a:schemeClr val="bg1">
                    <a:lumMod val="50000"/>
                  </a:schemeClr>
                </a:solidFill>
                <a:latin typeface="Arial" panose="020B0604020202020204" pitchFamily="34" charset="0"/>
                <a:cs typeface="Arial" panose="020B0604020202020204" pitchFamily="34" charset="0"/>
              </a:rPr>
              <a:t>H</a:t>
            </a:r>
            <a:r>
              <a:rPr lang="pt-BR" sz="1400" b="0" i="0" dirty="0">
                <a:solidFill>
                  <a:schemeClr val="bg1">
                    <a:lumMod val="50000"/>
                  </a:schemeClr>
                </a:solidFill>
                <a:effectLst/>
                <a:latin typeface="Arial" panose="020B0604020202020204" pitchFamily="34" charset="0"/>
                <a:cs typeface="Arial" panose="020B0604020202020204" pitchFamily="34" charset="0"/>
              </a:rPr>
              <a:t>abilidade de identificar quando encontram algo desconhecido,</a:t>
            </a:r>
          </a:p>
          <a:p>
            <a:pPr marL="342900" indent="-342900">
              <a:buFont typeface="+mj-lt"/>
              <a:buAutoNum type="arabicPeriod"/>
            </a:pPr>
            <a:r>
              <a:rPr lang="pt-BR" sz="1400" dirty="0">
                <a:solidFill>
                  <a:schemeClr val="bg1">
                    <a:lumMod val="50000"/>
                  </a:schemeClr>
                </a:solidFill>
                <a:latin typeface="Arial" panose="020B0604020202020204" pitchFamily="34" charset="0"/>
                <a:cs typeface="Arial" panose="020B0604020202020204" pitchFamily="34" charset="0"/>
              </a:rPr>
              <a:t>C</a:t>
            </a:r>
            <a:r>
              <a:rPr lang="pt-BR" sz="1400" b="0" i="0" dirty="0">
                <a:solidFill>
                  <a:schemeClr val="bg1">
                    <a:lumMod val="50000"/>
                  </a:schemeClr>
                </a:solidFill>
                <a:effectLst/>
                <a:latin typeface="Arial" panose="020B0604020202020204" pitchFamily="34" charset="0"/>
                <a:cs typeface="Arial" panose="020B0604020202020204" pitchFamily="34" charset="0"/>
              </a:rPr>
              <a:t>apacidade de "inventar" soluções baseadas em necessidades e informações disponíveis.</a:t>
            </a:r>
          </a:p>
          <a:p>
            <a:endParaRPr lang="pt-BR" sz="1400" b="0" i="0" dirty="0">
              <a:solidFill>
                <a:schemeClr val="bg1">
                  <a:lumMod val="50000"/>
                </a:schemeClr>
              </a:solidFill>
              <a:effectLst/>
              <a:latin typeface="Arial" panose="020B0604020202020204" pitchFamily="34" charset="0"/>
              <a:cs typeface="Arial" panose="020B0604020202020204" pitchFamily="34" charset="0"/>
            </a:endParaRPr>
          </a:p>
          <a:p>
            <a:r>
              <a:rPr lang="pt-BR" sz="1400" b="0" i="0" dirty="0">
                <a:solidFill>
                  <a:schemeClr val="bg1">
                    <a:lumMod val="50000"/>
                  </a:schemeClr>
                </a:solidFill>
                <a:effectLst/>
                <a:latin typeface="Arial" panose="020B0604020202020204" pitchFamily="34" charset="0"/>
                <a:cs typeface="Arial" panose="020B0604020202020204" pitchFamily="34" charset="0"/>
              </a:rPr>
              <a:t>	Problema 1 - Incapacidade de lidar com desconhecido: quando IA encontra algo não presente em dados de treinamento, não consegue raciocinar que é algo novo. Falha ou produz resultados incorretos. Humano raciocina: "Tenho dados de todos pássaros conhecidos, este não corresponde a nenhum, portanto é novo tipo". Esta capacidade de raciocínio sobre desconhecido é fundamentalmente ausente.</a:t>
            </a:r>
          </a:p>
          <a:p>
            <a:endParaRPr lang="pt-BR" sz="1400" b="0" i="0" dirty="0">
              <a:solidFill>
                <a:schemeClr val="bg1">
                  <a:lumMod val="50000"/>
                </a:schemeClr>
              </a:solidFill>
              <a:effectLst/>
              <a:latin typeface="Arial" panose="020B0604020202020204" pitchFamily="34" charset="0"/>
              <a:cs typeface="Arial" panose="020B0604020202020204" pitchFamily="34" charset="0"/>
            </a:endParaRPr>
          </a:p>
          <a:p>
            <a:r>
              <a:rPr lang="pt-BR" sz="1400" b="0" i="0" dirty="0">
                <a:solidFill>
                  <a:schemeClr val="bg1">
                    <a:lumMod val="50000"/>
                  </a:schemeClr>
                </a:solidFill>
                <a:effectLst/>
                <a:latin typeface="Arial" panose="020B0604020202020204" pitchFamily="34" charset="0"/>
                <a:cs typeface="Arial" panose="020B0604020202020204" pitchFamily="34" charset="0"/>
              </a:rPr>
              <a:t>	Problema 2 - Ausência de capacidade de inovação: humanos inventam coisas baseadas em informações e necessidades, combinando conhecimento existente de formas novas. Sistemas de IA atuais são incapazes disso - apenas reproduzem padrões aprendidos, nunca criam algo verdadeiramente novo através de raciocínio lógico.</a:t>
            </a:r>
          </a:p>
          <a:p>
            <a:endParaRPr lang="pt-BR" sz="1400" b="0" i="0" dirty="0">
              <a:solidFill>
                <a:schemeClr val="bg1">
                  <a:lumMod val="50000"/>
                </a:schemeClr>
              </a:solidFill>
              <a:effectLst/>
              <a:latin typeface="Arial" panose="020B0604020202020204" pitchFamily="34" charset="0"/>
              <a:cs typeface="Arial" panose="020B0604020202020204" pitchFamily="34" charset="0"/>
            </a:endParaRPr>
          </a:p>
          <a:p>
            <a:r>
              <a:rPr lang="pt-BR" sz="1400" b="0" i="0" dirty="0">
                <a:solidFill>
                  <a:schemeClr val="bg1">
                    <a:lumMod val="50000"/>
                  </a:schemeClr>
                </a:solidFill>
                <a:effectLst/>
                <a:latin typeface="Arial" panose="020B0604020202020204" pitchFamily="34" charset="0"/>
                <a:cs typeface="Arial" panose="020B0604020202020204" pitchFamily="34" charset="0"/>
              </a:rPr>
              <a:t>	Problema 3 - Falta de intuição: sistemas baseados exclusivamente em </a:t>
            </a:r>
            <a:r>
              <a:rPr lang="pt-BR" sz="1400" b="0" i="0" dirty="0" err="1">
                <a:solidFill>
                  <a:schemeClr val="bg1">
                    <a:lumMod val="50000"/>
                  </a:schemeClr>
                </a:solidFill>
                <a:effectLst/>
                <a:latin typeface="Arial" panose="020B0604020202020204" pitchFamily="34" charset="0"/>
                <a:cs typeface="Arial" panose="020B0604020202020204" pitchFamily="34" charset="0"/>
              </a:rPr>
              <a:t>deep</a:t>
            </a:r>
            <a:r>
              <a:rPr lang="pt-BR" sz="1400" b="0" i="0" dirty="0">
                <a:solidFill>
                  <a:schemeClr val="bg1">
                    <a:lumMod val="50000"/>
                  </a:schemeClr>
                </a:solidFill>
                <a:effectLst/>
                <a:latin typeface="Arial" panose="020B0604020202020204" pitchFamily="34" charset="0"/>
                <a:cs typeface="Arial" panose="020B0604020202020204" pitchFamily="34" charset="0"/>
              </a:rPr>
              <a:t> learning não possuem capacidade intuitiva de compreender conceitos abstratos, fazer inferências lógicas ou raciocinar sobre relações causais. Reconhecem padrões visuais explícitos, mas não fazem conexões não óbvias ou raciocinam sobre características universais.</a:t>
            </a:r>
            <a:br>
              <a:rPr lang="pt-BR" sz="1400" b="0" i="0" dirty="0">
                <a:solidFill>
                  <a:schemeClr val="bg1">
                    <a:lumMod val="50000"/>
                  </a:schemeClr>
                </a:solidFill>
                <a:effectLst/>
                <a:latin typeface="Arial" panose="020B0604020202020204" pitchFamily="34" charset="0"/>
                <a:cs typeface="Arial" panose="020B0604020202020204" pitchFamily="34" charset="0"/>
              </a:rPr>
            </a:br>
            <a:endParaRPr lang="pt-BR" sz="1400" b="0" i="0" dirty="0">
              <a:solidFill>
                <a:schemeClr val="bg1">
                  <a:lumMod val="50000"/>
                </a:schemeClr>
              </a:solidFill>
              <a:effectLst/>
              <a:latin typeface="Arial" panose="020B0604020202020204" pitchFamily="34" charset="0"/>
              <a:cs typeface="Arial" panose="020B0604020202020204" pitchFamily="34" charset="0"/>
            </a:endParaRPr>
          </a:p>
          <a:p>
            <a:r>
              <a:rPr lang="pt-BR" sz="1400" b="0" i="0" dirty="0">
                <a:solidFill>
                  <a:schemeClr val="bg1">
                    <a:lumMod val="50000"/>
                  </a:schemeClr>
                </a:solidFill>
                <a:effectLst/>
                <a:latin typeface="Arial" panose="020B0604020202020204" pitchFamily="34" charset="0"/>
                <a:cs typeface="Arial" panose="020B0604020202020204" pitchFamily="34" charset="0"/>
              </a:rPr>
              <a:t>	Problema 4 - Rigidez fundamental: sistemas treinados permanecem estáticos, não incorporando novos conhecimentos sem </a:t>
            </a:r>
            <a:r>
              <a:rPr lang="pt-BR" sz="1400" b="0" i="0" dirty="0" err="1">
                <a:solidFill>
                  <a:schemeClr val="bg1">
                    <a:lumMod val="50000"/>
                  </a:schemeClr>
                </a:solidFill>
                <a:effectLst/>
                <a:latin typeface="Arial" panose="020B0604020202020204" pitchFamily="34" charset="0"/>
                <a:cs typeface="Arial" panose="020B0604020202020204" pitchFamily="34" charset="0"/>
              </a:rPr>
              <a:t>re-treinamento</a:t>
            </a:r>
            <a:r>
              <a:rPr lang="pt-BR" sz="1400" b="0" i="0" dirty="0">
                <a:solidFill>
                  <a:schemeClr val="bg1">
                    <a:lumMod val="50000"/>
                  </a:schemeClr>
                </a:solidFill>
                <a:effectLst/>
                <a:latin typeface="Arial" panose="020B0604020202020204" pitchFamily="34" charset="0"/>
                <a:cs typeface="Arial" panose="020B0604020202020204" pitchFamily="34" charset="0"/>
              </a:rPr>
              <a:t> completo. Não evoluem, não aprendem a partir de raciocínio sobre novas situações, não desenvolvem adaptação inteligente. Fundamentalmente diferentes de inteligência humana, que é flexível, adaptativa e capaz de raciocínio contínuo.</a:t>
            </a:r>
          </a:p>
        </p:txBody>
      </p:sp>
      <p:sp>
        <p:nvSpPr>
          <p:cNvPr id="8" name="TextBox 11">
            <a:extLst>
              <a:ext uri="{FF2B5EF4-FFF2-40B4-BE49-F238E27FC236}">
                <a16:creationId xmlns:a16="http://schemas.microsoft.com/office/drawing/2014/main" id="{0F8C190C-70B0-4882-8163-C8246A4F3CAD}"/>
              </a:ext>
            </a:extLst>
          </p:cNvPr>
          <p:cNvSpPr txBox="1"/>
          <p:nvPr/>
        </p:nvSpPr>
        <p:spPr>
          <a:xfrm>
            <a:off x="780711" y="509808"/>
            <a:ext cx="7269771" cy="461665"/>
          </a:xfrm>
          <a:prstGeom prst="rect">
            <a:avLst/>
          </a:prstGeom>
        </p:spPr>
        <p:txBody>
          <a:bodyPr wrap="square" lIns="0" tIns="0" rIns="0" bIns="0" rtlCol="0" anchor="t">
            <a:spAutoFit/>
          </a:bodyPr>
          <a:lstStyle/>
          <a:p>
            <a:pPr fontAlgn="t"/>
            <a:r>
              <a:rPr lang="en-US" sz="3000" b="1" dirty="0">
                <a:solidFill>
                  <a:srgbClr val="004B78"/>
                </a:solidFill>
                <a:latin typeface="Arial" panose="020B0604020202020204" pitchFamily="34" charset="0"/>
                <a:cs typeface="Arial" panose="020B0604020202020204" pitchFamily="34" charset="0"/>
              </a:rPr>
              <a:t>PROBLEMA ATUAL</a:t>
            </a:r>
          </a:p>
        </p:txBody>
      </p:sp>
      <p:pic>
        <p:nvPicPr>
          <p:cNvPr id="5" name="Imagem 4" descr="Logotipo&#10;&#10;Descrição gerada automaticamente">
            <a:extLst>
              <a:ext uri="{FF2B5EF4-FFF2-40B4-BE49-F238E27FC236}">
                <a16:creationId xmlns:a16="http://schemas.microsoft.com/office/drawing/2014/main" id="{41729D1E-E3B7-4927-96AD-4C2C70CF60C6}"/>
              </a:ext>
            </a:extLst>
          </p:cNvPr>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10906687" y="313985"/>
            <a:ext cx="917272" cy="362370"/>
          </a:xfrm>
          <a:prstGeom prst="rect">
            <a:avLst/>
          </a:prstGeom>
        </p:spPr>
      </p:pic>
      <p:sp>
        <p:nvSpPr>
          <p:cNvPr id="12" name="Retângulo 11">
            <a:extLst>
              <a:ext uri="{FF2B5EF4-FFF2-40B4-BE49-F238E27FC236}">
                <a16:creationId xmlns:a16="http://schemas.microsoft.com/office/drawing/2014/main" id="{D14A3FCA-C4A7-4C82-BA0F-087B8F528D3C}"/>
              </a:ext>
            </a:extLst>
          </p:cNvPr>
          <p:cNvSpPr/>
          <p:nvPr/>
        </p:nvSpPr>
        <p:spPr>
          <a:xfrm>
            <a:off x="0" y="0"/>
            <a:ext cx="397122" cy="6865814"/>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01223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Pessoas sentadas ao redor de uma mesa&#10;&#10;Descrição gerada automaticamente">
            <a:extLst>
              <a:ext uri="{FF2B5EF4-FFF2-40B4-BE49-F238E27FC236}">
                <a16:creationId xmlns:a16="http://schemas.microsoft.com/office/drawing/2014/main" id="{BD70E947-47BB-8144-88C3-D5015E5EB1A0}"/>
              </a:ext>
            </a:extLst>
          </p:cNvPr>
          <p:cNvPicPr>
            <a:picLocks noChangeAspect="1"/>
          </p:cNvPicPr>
          <p:nvPr/>
        </p:nvPicPr>
        <p:blipFill rotWithShape="1">
          <a:blip r:embed="rId2">
            <a:extLst>
              <a:ext uri="{28A0092B-C50C-407E-A947-70E740481C1C}">
                <a14:useLocalDpi xmlns:a14="http://schemas.microsoft.com/office/drawing/2010/main" val="0"/>
              </a:ext>
            </a:extLst>
          </a:blip>
          <a:srcRect l="31854" r="26105"/>
          <a:stretch/>
        </p:blipFill>
        <p:spPr>
          <a:xfrm>
            <a:off x="0" y="-1"/>
            <a:ext cx="4324662" cy="6858001"/>
          </a:xfrm>
          <a:prstGeom prst="rect">
            <a:avLst/>
          </a:prstGeom>
        </p:spPr>
      </p:pic>
      <p:sp>
        <p:nvSpPr>
          <p:cNvPr id="24" name="TextBox 11">
            <a:extLst>
              <a:ext uri="{FF2B5EF4-FFF2-40B4-BE49-F238E27FC236}">
                <a16:creationId xmlns:a16="http://schemas.microsoft.com/office/drawing/2014/main" id="{AD7A561B-D2A9-4F17-A68A-B1220D0B07C9}"/>
              </a:ext>
            </a:extLst>
          </p:cNvPr>
          <p:cNvSpPr txBox="1"/>
          <p:nvPr/>
        </p:nvSpPr>
        <p:spPr>
          <a:xfrm>
            <a:off x="4679953" y="682613"/>
            <a:ext cx="7269771" cy="461665"/>
          </a:xfrm>
          <a:prstGeom prst="rect">
            <a:avLst/>
          </a:prstGeom>
        </p:spPr>
        <p:txBody>
          <a:bodyPr wrap="square" lIns="0" tIns="0" rIns="0" bIns="0" rtlCol="0" anchor="t">
            <a:spAutoFit/>
          </a:bodyPr>
          <a:lstStyle/>
          <a:p>
            <a:pPr fontAlgn="t"/>
            <a:r>
              <a:rPr lang="en-US" sz="3000" b="1" dirty="0">
                <a:solidFill>
                  <a:srgbClr val="004B78"/>
                </a:solidFill>
                <a:latin typeface="Arial" panose="020B0604020202020204" pitchFamily="34" charset="0"/>
                <a:cs typeface="Arial" panose="020B0604020202020204" pitchFamily="34" charset="0"/>
              </a:rPr>
              <a:t>METODOLOGIA</a:t>
            </a:r>
          </a:p>
        </p:txBody>
      </p:sp>
      <p:pic>
        <p:nvPicPr>
          <p:cNvPr id="3" name="Imagem 2">
            <a:extLst>
              <a:ext uri="{FF2B5EF4-FFF2-40B4-BE49-F238E27FC236}">
                <a16:creationId xmlns:a16="http://schemas.microsoft.com/office/drawing/2014/main" id="{F9DE058F-DDEC-46DC-BADB-7C7B97180E4A}"/>
              </a:ext>
            </a:extLst>
          </p:cNvPr>
          <p:cNvPicPr>
            <a:picLocks noChangeAspect="1"/>
          </p:cNvPicPr>
          <p:nvPr/>
        </p:nvPicPr>
        <p:blipFill rotWithShape="1">
          <a:blip r:embed="rId3">
            <a:extLst>
              <a:ext uri="{28A0092B-C50C-407E-A947-70E740481C1C}">
                <a14:useLocalDpi xmlns:a14="http://schemas.microsoft.com/office/drawing/2010/main" val="0"/>
              </a:ext>
            </a:extLst>
          </a:blip>
          <a:srcRect l="37637" t="-480352" r="1" b="-59853"/>
          <a:stretch/>
        </p:blipFill>
        <p:spPr>
          <a:xfrm>
            <a:off x="4679953" y="5564554"/>
            <a:ext cx="7144006" cy="1160097"/>
          </a:xfrm>
          <a:prstGeom prst="rect">
            <a:avLst/>
          </a:prstGeom>
        </p:spPr>
      </p:pic>
      <p:sp>
        <p:nvSpPr>
          <p:cNvPr id="15" name="Retângulo 14">
            <a:extLst>
              <a:ext uri="{FF2B5EF4-FFF2-40B4-BE49-F238E27FC236}">
                <a16:creationId xmlns:a16="http://schemas.microsoft.com/office/drawing/2014/main" id="{6AEF939F-5600-4DD8-A056-D76CACF4EEE4}"/>
              </a:ext>
            </a:extLst>
          </p:cNvPr>
          <p:cNvSpPr/>
          <p:nvPr/>
        </p:nvSpPr>
        <p:spPr>
          <a:xfrm>
            <a:off x="4595447" y="1579876"/>
            <a:ext cx="5517662" cy="5047536"/>
          </a:xfrm>
          <a:prstGeom prst="rect">
            <a:avLst/>
          </a:prstGeom>
        </p:spPr>
        <p:txBody>
          <a:bodyPr wrap="square">
            <a:spAutoFit/>
          </a:bodyPr>
          <a:lstStyle/>
          <a:p>
            <a:r>
              <a:rPr lang="pt-BR" sz="1400" b="0" i="0" dirty="0">
                <a:solidFill>
                  <a:schemeClr val="bg1">
                    <a:lumMod val="50000"/>
                  </a:schemeClr>
                </a:solidFill>
                <a:effectLst/>
                <a:latin typeface="Arial" panose="020B0604020202020204" pitchFamily="34" charset="0"/>
                <a:cs typeface="Arial" panose="020B0604020202020204" pitchFamily="34" charset="0"/>
              </a:rPr>
              <a:t>Para o desenvolvimento deste sistema, será utilizada uma abordagem prática com foco em metodologias ágeis (Scrum), além de técnicas de engenharia de software. A metodologia inclui:</a:t>
            </a:r>
          </a:p>
          <a:p>
            <a:endParaRPr lang="pt-BR" sz="1400" b="0" i="0" dirty="0">
              <a:solidFill>
                <a:schemeClr val="bg1">
                  <a:lumMod val="50000"/>
                </a:schemeClr>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Levantamento de Requisitos: Entrevistas e análise de mercado para entender as necessidades de corretores e clientes.</a:t>
            </a:r>
          </a:p>
          <a:p>
            <a:pPr marL="285750"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Desenvolvimento Tecnológico:</a:t>
            </a:r>
          </a:p>
          <a:p>
            <a:pPr marL="742950" lvl="1" indent="-285750">
              <a:buFont typeface="Arial" panose="020B0604020202020204" pitchFamily="34" charset="0"/>
              <a:buChar char="•"/>
            </a:pPr>
            <a:r>
              <a:rPr lang="pt-BR" sz="1400" b="0" i="0" dirty="0" err="1">
                <a:solidFill>
                  <a:schemeClr val="bg1">
                    <a:lumMod val="50000"/>
                  </a:schemeClr>
                </a:solidFill>
                <a:effectLst/>
                <a:latin typeface="Arial" panose="020B0604020202020204" pitchFamily="34" charset="0"/>
                <a:cs typeface="Arial" panose="020B0604020202020204" pitchFamily="34" charset="0"/>
              </a:rPr>
              <a:t>Frontend</a:t>
            </a:r>
            <a:r>
              <a:rPr lang="pt-BR" sz="1400" b="0" i="0" dirty="0">
                <a:solidFill>
                  <a:schemeClr val="bg1">
                    <a:lumMod val="50000"/>
                  </a:schemeClr>
                </a:solidFill>
                <a:effectLst/>
                <a:latin typeface="Arial" panose="020B0604020202020204" pitchFamily="34" charset="0"/>
                <a:cs typeface="Arial" panose="020B0604020202020204" pitchFamily="34" charset="0"/>
              </a:rPr>
              <a:t>: Angular 18 (utilizando Angular </a:t>
            </a:r>
            <a:r>
              <a:rPr lang="pt-BR" sz="1400" b="0" i="0" dirty="0" err="1">
                <a:solidFill>
                  <a:schemeClr val="bg1">
                    <a:lumMod val="50000"/>
                  </a:schemeClr>
                </a:solidFill>
                <a:effectLst/>
                <a:latin typeface="Arial" panose="020B0604020202020204" pitchFamily="34" charset="0"/>
                <a:cs typeface="Arial" panose="020B0604020202020204" pitchFamily="34" charset="0"/>
              </a:rPr>
              <a:t>Standalone</a:t>
            </a:r>
            <a:r>
              <a:rPr lang="pt-BR" sz="1400" b="0" i="0" dirty="0">
                <a:solidFill>
                  <a:schemeClr val="bg1">
                    <a:lumMod val="50000"/>
                  </a:schemeClr>
                </a:solidFill>
                <a:effectLst/>
                <a:latin typeface="Arial" panose="020B0604020202020204" pitchFamily="34" charset="0"/>
                <a:cs typeface="Arial" panose="020B0604020202020204" pitchFamily="34" charset="0"/>
              </a:rPr>
              <a:t> </a:t>
            </a:r>
            <a:r>
              <a:rPr lang="pt-BR" sz="1400" b="0" i="0" dirty="0" err="1">
                <a:solidFill>
                  <a:schemeClr val="bg1">
                    <a:lumMod val="50000"/>
                  </a:schemeClr>
                </a:solidFill>
                <a:effectLst/>
                <a:latin typeface="Arial" panose="020B0604020202020204" pitchFamily="34" charset="0"/>
                <a:cs typeface="Arial" panose="020B0604020202020204" pitchFamily="34" charset="0"/>
              </a:rPr>
              <a:t>Components</a:t>
            </a:r>
            <a:r>
              <a:rPr lang="pt-BR" sz="1400" b="0" i="0" dirty="0">
                <a:solidFill>
                  <a:schemeClr val="bg1">
                    <a:lumMod val="50000"/>
                  </a:schemeClr>
                </a:solidFill>
                <a:effectLst/>
                <a:latin typeface="Arial" panose="020B0604020202020204" pitchFamily="34" charset="0"/>
                <a:cs typeface="Arial" panose="020B0604020202020204" pitchFamily="34" charset="0"/>
              </a:rPr>
              <a:t>) para uma interface responsiva e dinâmica.</a:t>
            </a:r>
          </a:p>
          <a:p>
            <a:pPr marL="742950" lvl="1" indent="-285750">
              <a:buFont typeface="Arial" panose="020B0604020202020204" pitchFamily="34" charset="0"/>
              <a:buChar char="•"/>
            </a:pPr>
            <a:r>
              <a:rPr lang="pt-BR" sz="1400" b="0" i="0" dirty="0" err="1">
                <a:solidFill>
                  <a:schemeClr val="bg1">
                    <a:lumMod val="50000"/>
                  </a:schemeClr>
                </a:solidFill>
                <a:effectLst/>
                <a:latin typeface="Arial" panose="020B0604020202020204" pitchFamily="34" charset="0"/>
                <a:cs typeface="Arial" panose="020B0604020202020204" pitchFamily="34" charset="0"/>
              </a:rPr>
              <a:t>Backend</a:t>
            </a:r>
            <a:r>
              <a:rPr lang="pt-BR" sz="1400" b="0" i="0" dirty="0">
                <a:solidFill>
                  <a:schemeClr val="bg1">
                    <a:lumMod val="50000"/>
                  </a:schemeClr>
                </a:solidFill>
                <a:effectLst/>
                <a:latin typeface="Arial" panose="020B0604020202020204" pitchFamily="34" charset="0"/>
                <a:cs typeface="Arial" panose="020B0604020202020204" pitchFamily="34" charset="0"/>
              </a:rPr>
              <a:t>: PHP 8.3 para APIs </a:t>
            </a:r>
            <a:r>
              <a:rPr lang="pt-BR" sz="1400" b="0" i="0" dirty="0" err="1">
                <a:solidFill>
                  <a:schemeClr val="bg1">
                    <a:lumMod val="50000"/>
                  </a:schemeClr>
                </a:solidFill>
                <a:effectLst/>
                <a:latin typeface="Arial" panose="020B0604020202020204" pitchFamily="34" charset="0"/>
                <a:cs typeface="Arial" panose="020B0604020202020204" pitchFamily="34" charset="0"/>
              </a:rPr>
              <a:t>RESTful</a:t>
            </a:r>
            <a:r>
              <a:rPr lang="pt-BR" sz="1400" b="0" i="0" dirty="0">
                <a:solidFill>
                  <a:schemeClr val="bg1">
                    <a:lumMod val="50000"/>
                  </a:schemeClr>
                </a:solidFill>
                <a:effectLst/>
                <a:latin typeface="Arial" panose="020B0604020202020204" pitchFamily="34" charset="0"/>
                <a:cs typeface="Arial" panose="020B0604020202020204" pitchFamily="34" charset="0"/>
              </a:rPr>
              <a:t> que servirão de ponte para o </a:t>
            </a:r>
            <a:r>
              <a:rPr lang="pt-BR" sz="1400" b="0" i="0" dirty="0" err="1">
                <a:solidFill>
                  <a:schemeClr val="bg1">
                    <a:lumMod val="50000"/>
                  </a:schemeClr>
                </a:solidFill>
                <a:effectLst/>
                <a:latin typeface="Arial" panose="020B0604020202020204" pitchFamily="34" charset="0"/>
                <a:cs typeface="Arial" panose="020B0604020202020204" pitchFamily="34" charset="0"/>
              </a:rPr>
              <a:t>frontend</a:t>
            </a:r>
            <a:r>
              <a:rPr lang="pt-BR" sz="1400" b="0" i="0" dirty="0">
                <a:solidFill>
                  <a:schemeClr val="bg1">
                    <a:lumMod val="50000"/>
                  </a:schemeClr>
                </a:solidFill>
                <a:effectLst/>
                <a:latin typeface="Arial" panose="020B0604020202020204" pitchFamily="34" charset="0"/>
                <a:cs typeface="Arial" panose="020B0604020202020204" pitchFamily="34" charset="0"/>
              </a:rPr>
              <a:t> e a comunicação com bancos de dados.</a:t>
            </a:r>
          </a:p>
          <a:p>
            <a:pPr marL="742950" lvl="1"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Banco de Dados: MySQL para armazenamento de dados estruturados, incluindo informações de clientes, propostas e contratos.</a:t>
            </a:r>
          </a:p>
          <a:p>
            <a:pPr marL="285750"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Validação e Testes:</a:t>
            </a:r>
          </a:p>
          <a:p>
            <a:pPr marL="742950" lvl="1"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Testes unitários e de integração para garantir a qualidade do código.</a:t>
            </a:r>
          </a:p>
          <a:p>
            <a:pPr marL="742950" lvl="1"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Testes de usabilidade com potenciais usuários (corretores e clientes).</a:t>
            </a:r>
          </a:p>
          <a:p>
            <a:pPr marL="285750" indent="-285750">
              <a:buFont typeface="Arial" panose="020B0604020202020204" pitchFamily="34" charset="0"/>
              <a:buChar char="•"/>
            </a:pPr>
            <a:r>
              <a:rPr lang="pt-BR" sz="1400" b="0" i="0" dirty="0">
                <a:solidFill>
                  <a:schemeClr val="bg1">
                    <a:lumMod val="50000"/>
                  </a:schemeClr>
                </a:solidFill>
                <a:effectLst/>
                <a:latin typeface="Arial" panose="020B0604020202020204" pitchFamily="34" charset="0"/>
                <a:cs typeface="Arial" panose="020B0604020202020204" pitchFamily="34" charset="0"/>
              </a:rPr>
              <a:t>Documentação e Análise de Resultados: Relatório detalhado sobre o desenvolvimento, resultados alcançados e melhorias futuras.</a:t>
            </a:r>
            <a:endParaRPr lang="pt-BR" sz="1400" dirty="0">
              <a:solidFill>
                <a:srgbClr val="004B78"/>
              </a:solidFill>
              <a:latin typeface="Arial" panose="020B0604020202020204" pitchFamily="34" charset="0"/>
              <a:cs typeface="Arial" panose="020B0604020202020204" pitchFamily="34" charset="0"/>
            </a:endParaRPr>
          </a:p>
        </p:txBody>
      </p:sp>
      <p:pic>
        <p:nvPicPr>
          <p:cNvPr id="10" name="Imagem 9" descr="Logotipo&#10;&#10;Descrição gerada automaticamente">
            <a:extLst>
              <a:ext uri="{FF2B5EF4-FFF2-40B4-BE49-F238E27FC236}">
                <a16:creationId xmlns:a16="http://schemas.microsoft.com/office/drawing/2014/main" id="{E02EEC91-3D60-4788-8B55-21CE87E39C85}"/>
              </a:ext>
            </a:extLst>
          </p:cNvPr>
          <p:cNvPicPr>
            <a:picLocks noChangeAspect="1"/>
          </p:cNvPicPr>
          <p:nvPr/>
        </p:nvPicPr>
        <p:blipFill>
          <a:blip r:embed="rId4">
            <a:alphaModFix amt="30000"/>
            <a:extLst>
              <a:ext uri="{28A0092B-C50C-407E-A947-70E740481C1C}">
                <a14:useLocalDpi xmlns:a14="http://schemas.microsoft.com/office/drawing/2010/main" val="0"/>
              </a:ext>
            </a:extLst>
          </a:blip>
          <a:stretch>
            <a:fillRect/>
          </a:stretch>
        </p:blipFill>
        <p:spPr>
          <a:xfrm>
            <a:off x="10906687" y="313985"/>
            <a:ext cx="917272" cy="362370"/>
          </a:xfrm>
          <a:prstGeom prst="rect">
            <a:avLst/>
          </a:prstGeom>
        </p:spPr>
      </p:pic>
      <p:sp>
        <p:nvSpPr>
          <p:cNvPr id="8" name="Retângulo 7">
            <a:extLst>
              <a:ext uri="{FF2B5EF4-FFF2-40B4-BE49-F238E27FC236}">
                <a16:creationId xmlns:a16="http://schemas.microsoft.com/office/drawing/2014/main" id="{7AF34142-CDC5-4A42-8F2B-FEA108F303D5}"/>
              </a:ext>
            </a:extLst>
          </p:cNvPr>
          <p:cNvSpPr/>
          <p:nvPr/>
        </p:nvSpPr>
        <p:spPr>
          <a:xfrm>
            <a:off x="0" y="0"/>
            <a:ext cx="397122" cy="6858000"/>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45824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E43B647D-ED87-4C4C-9501-E39B9ACA7BB3}"/>
              </a:ext>
            </a:extLst>
          </p:cNvPr>
          <p:cNvSpPr/>
          <p:nvPr/>
        </p:nvSpPr>
        <p:spPr>
          <a:xfrm>
            <a:off x="-1" y="7815"/>
            <a:ext cx="2219569" cy="6857999"/>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descr="Mulher usando computador&#10;&#10;Descrição gerada automaticamente">
            <a:extLst>
              <a:ext uri="{FF2B5EF4-FFF2-40B4-BE49-F238E27FC236}">
                <a16:creationId xmlns:a16="http://schemas.microsoft.com/office/drawing/2014/main" id="{F40495C2-A1D3-934D-A6A3-B36E130FE94C}"/>
              </a:ext>
            </a:extLst>
          </p:cNvPr>
          <p:cNvPicPr>
            <a:picLocks noChangeAspect="1"/>
          </p:cNvPicPr>
          <p:nvPr/>
        </p:nvPicPr>
        <p:blipFill rotWithShape="1">
          <a:blip r:embed="rId2">
            <a:extLst>
              <a:ext uri="{28A0092B-C50C-407E-A947-70E740481C1C}">
                <a14:useLocalDpi xmlns:a14="http://schemas.microsoft.com/office/drawing/2010/main" val="0"/>
              </a:ext>
            </a:extLst>
          </a:blip>
          <a:srcRect l="12943" r="7905"/>
          <a:stretch/>
        </p:blipFill>
        <p:spPr>
          <a:xfrm>
            <a:off x="-2" y="-1"/>
            <a:ext cx="3680330" cy="2692933"/>
          </a:xfrm>
          <a:prstGeom prst="rect">
            <a:avLst/>
          </a:prstGeom>
        </p:spPr>
      </p:pic>
      <p:sp>
        <p:nvSpPr>
          <p:cNvPr id="24" name="TextBox 11">
            <a:extLst>
              <a:ext uri="{FF2B5EF4-FFF2-40B4-BE49-F238E27FC236}">
                <a16:creationId xmlns:a16="http://schemas.microsoft.com/office/drawing/2014/main" id="{AD7A561B-D2A9-4F17-A68A-B1220D0B07C9}"/>
              </a:ext>
            </a:extLst>
          </p:cNvPr>
          <p:cNvSpPr txBox="1"/>
          <p:nvPr/>
        </p:nvSpPr>
        <p:spPr>
          <a:xfrm>
            <a:off x="4047883" y="970404"/>
            <a:ext cx="7269771" cy="461665"/>
          </a:xfrm>
          <a:prstGeom prst="rect">
            <a:avLst/>
          </a:prstGeom>
        </p:spPr>
        <p:txBody>
          <a:bodyPr wrap="square" lIns="0" tIns="0" rIns="0" bIns="0" rtlCol="0" anchor="t">
            <a:spAutoFit/>
          </a:bodyPr>
          <a:lstStyle/>
          <a:p>
            <a:pPr fontAlgn="t"/>
            <a:r>
              <a:rPr lang="en-US" sz="3000" b="1" dirty="0" err="1">
                <a:solidFill>
                  <a:srgbClr val="004B78"/>
                </a:solidFill>
                <a:latin typeface="Arial" panose="020B0604020202020204" pitchFamily="34" charset="0"/>
                <a:cs typeface="Arial" panose="020B0604020202020204" pitchFamily="34" charset="0"/>
              </a:rPr>
              <a:t>Desenvolvimento</a:t>
            </a:r>
            <a:endParaRPr lang="en-US" sz="3000" b="1" dirty="0">
              <a:solidFill>
                <a:srgbClr val="004B78"/>
              </a:solidFill>
              <a:latin typeface="Arial" panose="020B0604020202020204" pitchFamily="34" charset="0"/>
              <a:cs typeface="Arial" panose="020B0604020202020204" pitchFamily="34" charset="0"/>
            </a:endParaRPr>
          </a:p>
        </p:txBody>
      </p:sp>
      <p:pic>
        <p:nvPicPr>
          <p:cNvPr id="3" name="Imagem 2">
            <a:extLst>
              <a:ext uri="{FF2B5EF4-FFF2-40B4-BE49-F238E27FC236}">
                <a16:creationId xmlns:a16="http://schemas.microsoft.com/office/drawing/2014/main" id="{F9DE058F-DDEC-46DC-BADB-7C7B97180E4A}"/>
              </a:ext>
            </a:extLst>
          </p:cNvPr>
          <p:cNvPicPr>
            <a:picLocks noChangeAspect="1"/>
          </p:cNvPicPr>
          <p:nvPr/>
        </p:nvPicPr>
        <p:blipFill rotWithShape="1">
          <a:blip r:embed="rId3">
            <a:extLst>
              <a:ext uri="{28A0092B-C50C-407E-A947-70E740481C1C}">
                <a14:useLocalDpi xmlns:a14="http://schemas.microsoft.com/office/drawing/2010/main" val="0"/>
              </a:ext>
            </a:extLst>
          </a:blip>
          <a:srcRect l="18139" t="-247463" b="-59853"/>
          <a:stretch/>
        </p:blipFill>
        <p:spPr>
          <a:xfrm>
            <a:off x="2446215" y="5986585"/>
            <a:ext cx="9377744" cy="738065"/>
          </a:xfrm>
          <a:prstGeom prst="rect">
            <a:avLst/>
          </a:prstGeom>
        </p:spPr>
      </p:pic>
      <p:sp>
        <p:nvSpPr>
          <p:cNvPr id="15" name="Retângulo 14">
            <a:extLst>
              <a:ext uri="{FF2B5EF4-FFF2-40B4-BE49-F238E27FC236}">
                <a16:creationId xmlns:a16="http://schemas.microsoft.com/office/drawing/2014/main" id="{6AEF939F-5600-4DD8-A056-D76CACF4EEE4}"/>
              </a:ext>
            </a:extLst>
          </p:cNvPr>
          <p:cNvSpPr/>
          <p:nvPr/>
        </p:nvSpPr>
        <p:spPr>
          <a:xfrm>
            <a:off x="2383692" y="3111112"/>
            <a:ext cx="8972062" cy="2462213"/>
          </a:xfrm>
          <a:prstGeom prst="rect">
            <a:avLst/>
          </a:prstGeom>
        </p:spPr>
        <p:txBody>
          <a:bodyPr wrap="square">
            <a:spAutoFit/>
          </a:bodyPr>
          <a:lstStyle/>
          <a:p>
            <a:r>
              <a:rPr lang="en-US" sz="1400" b="1" i="0" dirty="0">
                <a:solidFill>
                  <a:srgbClr val="004B78"/>
                </a:solidFill>
                <a:effectLst/>
                <a:latin typeface="Arial" panose="020B0604020202020204" pitchFamily="34" charset="0"/>
                <a:cs typeface="Arial" panose="020B0604020202020204" pitchFamily="34" charset="0"/>
              </a:rPr>
              <a:t>TÍTULO</a:t>
            </a:r>
            <a:endParaRPr lang="en-US" sz="1400" b="0" i="0" dirty="0">
              <a:solidFill>
                <a:srgbClr val="004B78"/>
              </a:solidFill>
              <a:effectLst/>
              <a:latin typeface="Arial" panose="020B0604020202020204" pitchFamily="34" charset="0"/>
              <a:cs typeface="Arial" panose="020B0604020202020204" pitchFamily="34" charset="0"/>
            </a:endParaRPr>
          </a:p>
          <a:p>
            <a:r>
              <a:rPr lang="en-US" sz="1400" b="0" i="0" dirty="0">
                <a:solidFill>
                  <a:schemeClr val="bg1">
                    <a:lumMod val="50000"/>
                  </a:schemeClr>
                </a:solidFill>
                <a:effectLst/>
                <a:latin typeface="Arial" panose="020B0604020202020204" pitchFamily="34" charset="0"/>
                <a:cs typeface="Arial" panose="020B0604020202020204" pitchFamily="34" charset="0"/>
              </a:rPr>
              <a:t>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a:p>
            <a:endParaRPr lang="en-US" sz="1400" dirty="0">
              <a:solidFill>
                <a:schemeClr val="bg1">
                  <a:lumMod val="50000"/>
                </a:schemeClr>
              </a:solidFill>
              <a:latin typeface="Arial" panose="020B0604020202020204" pitchFamily="34" charset="0"/>
              <a:cs typeface="Arial" panose="020B0604020202020204" pitchFamily="34" charset="0"/>
            </a:endParaRPr>
          </a:p>
          <a:p>
            <a:r>
              <a:rPr lang="en-US" sz="1400" b="1" i="0" dirty="0">
                <a:solidFill>
                  <a:schemeClr val="bg1">
                    <a:lumMod val="50000"/>
                  </a:schemeClr>
                </a:solidFill>
                <a:effectLst/>
                <a:latin typeface="Arial" panose="020B0604020202020204" pitchFamily="34" charset="0"/>
                <a:cs typeface="Arial" panose="020B0604020202020204" pitchFamily="34" charset="0"/>
              </a:rPr>
              <a:t>Lorem Ipsum</a:t>
            </a:r>
            <a:r>
              <a:rPr lang="en-US" sz="1400" b="0" i="0" dirty="0">
                <a:solidFill>
                  <a:schemeClr val="bg1">
                    <a:lumMod val="50000"/>
                  </a:schemeClr>
                </a:solidFill>
                <a:effectLst/>
                <a:latin typeface="Arial" panose="020B0604020202020204" pitchFamily="34" charset="0"/>
                <a:cs typeface="Arial" panose="020B0604020202020204" pitchFamily="34" charset="0"/>
              </a:rPr>
              <a:t>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endParaRPr lang="pt-BR" sz="1400" dirty="0">
              <a:solidFill>
                <a:schemeClr val="bg1">
                  <a:lumMod val="50000"/>
                </a:schemeClr>
              </a:solidFill>
              <a:latin typeface="Arial" panose="020B0604020202020204" pitchFamily="34" charset="0"/>
              <a:cs typeface="Arial" panose="020B0604020202020204" pitchFamily="34" charset="0"/>
            </a:endParaRPr>
          </a:p>
          <a:p>
            <a:endParaRPr lang="pt-BR" sz="1400" dirty="0">
              <a:solidFill>
                <a:srgbClr val="004B78"/>
              </a:solidFill>
              <a:latin typeface="Arial" panose="020B0604020202020204" pitchFamily="34" charset="0"/>
              <a:cs typeface="Arial" panose="020B0604020202020204" pitchFamily="34" charset="0"/>
            </a:endParaRPr>
          </a:p>
        </p:txBody>
      </p:sp>
      <p:sp>
        <p:nvSpPr>
          <p:cNvPr id="13" name="Retângulo 12">
            <a:extLst>
              <a:ext uri="{FF2B5EF4-FFF2-40B4-BE49-F238E27FC236}">
                <a16:creationId xmlns:a16="http://schemas.microsoft.com/office/drawing/2014/main" id="{ED8D67F4-E8C4-40C4-AA77-8A862D440044}"/>
              </a:ext>
            </a:extLst>
          </p:cNvPr>
          <p:cNvSpPr/>
          <p:nvPr/>
        </p:nvSpPr>
        <p:spPr>
          <a:xfrm>
            <a:off x="225533" y="4234497"/>
            <a:ext cx="1686260" cy="1169551"/>
          </a:xfrm>
          <a:prstGeom prst="rect">
            <a:avLst/>
          </a:prstGeom>
        </p:spPr>
        <p:txBody>
          <a:bodyPr wrap="square">
            <a:spAutoFit/>
          </a:bodyPr>
          <a:lstStyle/>
          <a:p>
            <a:r>
              <a:rPr lang="en-US" sz="1400" b="1" dirty="0">
                <a:solidFill>
                  <a:schemeClr val="bg1"/>
                </a:solidFill>
                <a:latin typeface="Arial" panose="020B0604020202020204" pitchFamily="34" charset="0"/>
                <a:cs typeface="Arial" panose="020B0604020202020204" pitchFamily="34" charset="0"/>
              </a:rPr>
              <a:t>TEXTO</a:t>
            </a:r>
          </a:p>
          <a:p>
            <a:r>
              <a:rPr lang="en-US" sz="1400" b="1" i="0" dirty="0">
                <a:solidFill>
                  <a:schemeClr val="bg1"/>
                </a:solidFill>
                <a:effectLst/>
                <a:latin typeface="Arial" panose="020B0604020202020204" pitchFamily="34" charset="0"/>
                <a:cs typeface="Arial" panose="020B0604020202020204" pitchFamily="34" charset="0"/>
              </a:rPr>
              <a:t>EM DESTAQUE</a:t>
            </a:r>
          </a:p>
          <a:p>
            <a:r>
              <a:rPr lang="en-US" sz="1400" b="0" i="0" dirty="0">
                <a:solidFill>
                  <a:schemeClr val="bg1"/>
                </a:solidFill>
                <a:effectLst/>
                <a:latin typeface="Arial" panose="020B0604020202020204" pitchFamily="34" charset="0"/>
                <a:cs typeface="Arial" panose="020B0604020202020204" pitchFamily="34" charset="0"/>
              </a:rPr>
              <a:t>simply dummy text of the printing and typesetting.</a:t>
            </a:r>
            <a:endParaRPr lang="pt-BR" sz="1400" dirty="0">
              <a:solidFill>
                <a:srgbClr val="004B78"/>
              </a:solidFill>
              <a:latin typeface="Arial" panose="020B0604020202020204" pitchFamily="34" charset="0"/>
              <a:cs typeface="Arial" panose="020B0604020202020204" pitchFamily="34" charset="0"/>
            </a:endParaRPr>
          </a:p>
        </p:txBody>
      </p:sp>
      <p:pic>
        <p:nvPicPr>
          <p:cNvPr id="16" name="Imagem 15" descr="Logotipo&#10;&#10;Descrição gerada automaticamente">
            <a:extLst>
              <a:ext uri="{FF2B5EF4-FFF2-40B4-BE49-F238E27FC236}">
                <a16:creationId xmlns:a16="http://schemas.microsoft.com/office/drawing/2014/main" id="{F6114E18-A7B6-4E17-A84D-38426BDB8A8B}"/>
              </a:ext>
            </a:extLst>
          </p:cNvPr>
          <p:cNvPicPr>
            <a:picLocks noChangeAspect="1"/>
          </p:cNvPicPr>
          <p:nvPr/>
        </p:nvPicPr>
        <p:blipFill>
          <a:blip r:embed="rId4">
            <a:alphaModFix amt="30000"/>
            <a:extLst>
              <a:ext uri="{28A0092B-C50C-407E-A947-70E740481C1C}">
                <a14:useLocalDpi xmlns:a14="http://schemas.microsoft.com/office/drawing/2010/main" val="0"/>
              </a:ext>
            </a:extLst>
          </a:blip>
          <a:stretch>
            <a:fillRect/>
          </a:stretch>
        </p:blipFill>
        <p:spPr>
          <a:xfrm>
            <a:off x="10906687" y="313985"/>
            <a:ext cx="917272" cy="362370"/>
          </a:xfrm>
          <a:prstGeom prst="rect">
            <a:avLst/>
          </a:prstGeom>
        </p:spPr>
      </p:pic>
    </p:spTree>
    <p:extLst>
      <p:ext uri="{BB962C8B-B14F-4D97-AF65-F5344CB8AC3E}">
        <p14:creationId xmlns:p14="http://schemas.microsoft.com/office/powerpoint/2010/main" val="666482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Pessoas sentadas ao redor de uma mesa&#10;&#10;Descrição gerada automaticamente">
            <a:extLst>
              <a:ext uri="{FF2B5EF4-FFF2-40B4-BE49-F238E27FC236}">
                <a16:creationId xmlns:a16="http://schemas.microsoft.com/office/drawing/2014/main" id="{BD70E947-47BB-8144-88C3-D5015E5EB1A0}"/>
              </a:ext>
            </a:extLst>
          </p:cNvPr>
          <p:cNvPicPr>
            <a:picLocks noChangeAspect="1"/>
          </p:cNvPicPr>
          <p:nvPr/>
        </p:nvPicPr>
        <p:blipFill rotWithShape="1">
          <a:blip r:embed="rId2">
            <a:extLst>
              <a:ext uri="{28A0092B-C50C-407E-A947-70E740481C1C}">
                <a14:useLocalDpi xmlns:a14="http://schemas.microsoft.com/office/drawing/2010/main" val="0"/>
              </a:ext>
            </a:extLst>
          </a:blip>
          <a:srcRect l="31854" r="26105"/>
          <a:stretch/>
        </p:blipFill>
        <p:spPr>
          <a:xfrm>
            <a:off x="0" y="-1"/>
            <a:ext cx="4324662" cy="6858001"/>
          </a:xfrm>
          <a:prstGeom prst="rect">
            <a:avLst/>
          </a:prstGeom>
        </p:spPr>
      </p:pic>
      <p:sp>
        <p:nvSpPr>
          <p:cNvPr id="24" name="TextBox 11">
            <a:extLst>
              <a:ext uri="{FF2B5EF4-FFF2-40B4-BE49-F238E27FC236}">
                <a16:creationId xmlns:a16="http://schemas.microsoft.com/office/drawing/2014/main" id="{AD7A561B-D2A9-4F17-A68A-B1220D0B07C9}"/>
              </a:ext>
            </a:extLst>
          </p:cNvPr>
          <p:cNvSpPr txBox="1"/>
          <p:nvPr/>
        </p:nvSpPr>
        <p:spPr>
          <a:xfrm>
            <a:off x="4679953" y="682613"/>
            <a:ext cx="7269771" cy="461665"/>
          </a:xfrm>
          <a:prstGeom prst="rect">
            <a:avLst/>
          </a:prstGeom>
        </p:spPr>
        <p:txBody>
          <a:bodyPr wrap="square" lIns="0" tIns="0" rIns="0" bIns="0" rtlCol="0" anchor="t">
            <a:spAutoFit/>
          </a:bodyPr>
          <a:lstStyle/>
          <a:p>
            <a:pPr fontAlgn="t"/>
            <a:r>
              <a:rPr lang="en-US" sz="3000" b="1" dirty="0">
                <a:solidFill>
                  <a:srgbClr val="004B78"/>
                </a:solidFill>
                <a:latin typeface="Arial" panose="020B0604020202020204" pitchFamily="34" charset="0"/>
                <a:cs typeface="Arial" panose="020B0604020202020204" pitchFamily="34" charset="0"/>
              </a:rPr>
              <a:t>CONCLUSÃO</a:t>
            </a:r>
          </a:p>
        </p:txBody>
      </p:sp>
      <p:pic>
        <p:nvPicPr>
          <p:cNvPr id="3" name="Imagem 2">
            <a:extLst>
              <a:ext uri="{FF2B5EF4-FFF2-40B4-BE49-F238E27FC236}">
                <a16:creationId xmlns:a16="http://schemas.microsoft.com/office/drawing/2014/main" id="{F9DE058F-DDEC-46DC-BADB-7C7B97180E4A}"/>
              </a:ext>
            </a:extLst>
          </p:cNvPr>
          <p:cNvPicPr>
            <a:picLocks noChangeAspect="1"/>
          </p:cNvPicPr>
          <p:nvPr/>
        </p:nvPicPr>
        <p:blipFill rotWithShape="1">
          <a:blip r:embed="rId3">
            <a:extLst>
              <a:ext uri="{28A0092B-C50C-407E-A947-70E740481C1C}">
                <a14:useLocalDpi xmlns:a14="http://schemas.microsoft.com/office/drawing/2010/main" val="0"/>
              </a:ext>
            </a:extLst>
          </a:blip>
          <a:srcRect l="37637" t="-480352" r="1" b="-59853"/>
          <a:stretch/>
        </p:blipFill>
        <p:spPr>
          <a:xfrm>
            <a:off x="4679953" y="5564554"/>
            <a:ext cx="7144006" cy="1160097"/>
          </a:xfrm>
          <a:prstGeom prst="rect">
            <a:avLst/>
          </a:prstGeom>
        </p:spPr>
      </p:pic>
      <p:sp>
        <p:nvSpPr>
          <p:cNvPr id="15" name="Retângulo 14">
            <a:extLst>
              <a:ext uri="{FF2B5EF4-FFF2-40B4-BE49-F238E27FC236}">
                <a16:creationId xmlns:a16="http://schemas.microsoft.com/office/drawing/2014/main" id="{6AEF939F-5600-4DD8-A056-D76CACF4EEE4}"/>
              </a:ext>
            </a:extLst>
          </p:cNvPr>
          <p:cNvSpPr/>
          <p:nvPr/>
        </p:nvSpPr>
        <p:spPr>
          <a:xfrm>
            <a:off x="4595447" y="1579876"/>
            <a:ext cx="5517662" cy="3108543"/>
          </a:xfrm>
          <a:prstGeom prst="rect">
            <a:avLst/>
          </a:prstGeom>
        </p:spPr>
        <p:txBody>
          <a:bodyPr wrap="square">
            <a:spAutoFit/>
          </a:bodyPr>
          <a:lstStyle/>
          <a:p>
            <a:r>
              <a:rPr lang="pt-BR" sz="1400" b="0" i="0" dirty="0">
                <a:solidFill>
                  <a:schemeClr val="bg1">
                    <a:lumMod val="50000"/>
                  </a:schemeClr>
                </a:solidFill>
                <a:effectLst/>
                <a:latin typeface="Arial" panose="020B0604020202020204" pitchFamily="34" charset="0"/>
                <a:cs typeface="Arial" panose="020B0604020202020204" pitchFamily="34" charset="0"/>
              </a:rPr>
              <a:t>	O desenvolvimento de um sistema digital para a venda de planos de saúde, utilizando tecnologias como Angular 18 e PHP, demonstra um avanço significativo em termos de eficiência operacional e satisfação do cliente. A digitalização do processo de vendas permite reduzir a burocracia, automatizar tarefas repetitivas e oferecer uma experiência mais fluida e intuitiva tanto para corretores quanto para clientes finais.</a:t>
            </a:r>
          </a:p>
          <a:p>
            <a:endParaRPr lang="pt-BR" sz="1400" b="0" i="0" dirty="0">
              <a:solidFill>
                <a:schemeClr val="bg1">
                  <a:lumMod val="50000"/>
                </a:schemeClr>
              </a:solidFill>
              <a:effectLst/>
              <a:latin typeface="Arial" panose="020B0604020202020204" pitchFamily="34" charset="0"/>
              <a:cs typeface="Arial" panose="020B0604020202020204" pitchFamily="34" charset="0"/>
            </a:endParaRPr>
          </a:p>
          <a:p>
            <a:r>
              <a:rPr lang="pt-BR" sz="1400" b="0" i="0" dirty="0">
                <a:solidFill>
                  <a:schemeClr val="bg1">
                    <a:lumMod val="50000"/>
                  </a:schemeClr>
                </a:solidFill>
                <a:effectLst/>
                <a:latin typeface="Arial" panose="020B0604020202020204" pitchFamily="34" charset="0"/>
                <a:cs typeface="Arial" panose="020B0604020202020204" pitchFamily="34" charset="0"/>
              </a:rPr>
              <a:t>	Os resultados esperados incluem um aumento da competitividade no mercado, maior precisão nos processos, e redução dos custos operacionais associados ao ciclo de vendas. Este estudo conclui que a adoção de tecnologias modernas no setor de saúde é essencial para acompanhar as mudanças nas expectativas dos consumidores e nas exigências regulatórias.</a:t>
            </a:r>
            <a:endParaRPr lang="pt-BR" sz="1400" dirty="0">
              <a:solidFill>
                <a:srgbClr val="004B78"/>
              </a:solidFill>
              <a:latin typeface="Arial" panose="020B0604020202020204" pitchFamily="34" charset="0"/>
              <a:cs typeface="Arial" panose="020B0604020202020204" pitchFamily="34" charset="0"/>
            </a:endParaRPr>
          </a:p>
        </p:txBody>
      </p:sp>
      <p:pic>
        <p:nvPicPr>
          <p:cNvPr id="10" name="Imagem 9" descr="Logotipo&#10;&#10;Descrição gerada automaticamente">
            <a:extLst>
              <a:ext uri="{FF2B5EF4-FFF2-40B4-BE49-F238E27FC236}">
                <a16:creationId xmlns:a16="http://schemas.microsoft.com/office/drawing/2014/main" id="{E02EEC91-3D60-4788-8B55-21CE87E39C85}"/>
              </a:ext>
            </a:extLst>
          </p:cNvPr>
          <p:cNvPicPr>
            <a:picLocks noChangeAspect="1"/>
          </p:cNvPicPr>
          <p:nvPr/>
        </p:nvPicPr>
        <p:blipFill>
          <a:blip r:embed="rId4">
            <a:alphaModFix amt="30000"/>
            <a:extLst>
              <a:ext uri="{28A0092B-C50C-407E-A947-70E740481C1C}">
                <a14:useLocalDpi xmlns:a14="http://schemas.microsoft.com/office/drawing/2010/main" val="0"/>
              </a:ext>
            </a:extLst>
          </a:blip>
          <a:stretch>
            <a:fillRect/>
          </a:stretch>
        </p:blipFill>
        <p:spPr>
          <a:xfrm>
            <a:off x="10906687" y="313985"/>
            <a:ext cx="917272" cy="362370"/>
          </a:xfrm>
          <a:prstGeom prst="rect">
            <a:avLst/>
          </a:prstGeom>
        </p:spPr>
      </p:pic>
      <p:sp>
        <p:nvSpPr>
          <p:cNvPr id="8" name="Retângulo 7">
            <a:extLst>
              <a:ext uri="{FF2B5EF4-FFF2-40B4-BE49-F238E27FC236}">
                <a16:creationId xmlns:a16="http://schemas.microsoft.com/office/drawing/2014/main" id="{7AF34142-CDC5-4A42-8F2B-FEA108F303D5}"/>
              </a:ext>
            </a:extLst>
          </p:cNvPr>
          <p:cNvSpPr/>
          <p:nvPr/>
        </p:nvSpPr>
        <p:spPr>
          <a:xfrm>
            <a:off x="0" y="0"/>
            <a:ext cx="397122" cy="6858000"/>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1" name="Agrupar 10">
            <a:extLst>
              <a:ext uri="{FF2B5EF4-FFF2-40B4-BE49-F238E27FC236}">
                <a16:creationId xmlns:a16="http://schemas.microsoft.com/office/drawing/2014/main" id="{D28F2AC6-98A4-A4E3-8CEC-B227C1F48D95}"/>
              </a:ext>
            </a:extLst>
          </p:cNvPr>
          <p:cNvGrpSpPr/>
          <p:nvPr/>
        </p:nvGrpSpPr>
        <p:grpSpPr>
          <a:xfrm>
            <a:off x="4679953" y="5458407"/>
            <a:ext cx="4725979" cy="793179"/>
            <a:chOff x="4679953" y="5458407"/>
            <a:chExt cx="4725979" cy="793179"/>
          </a:xfrm>
        </p:grpSpPr>
        <p:pic>
          <p:nvPicPr>
            <p:cNvPr id="4" name="Imagem 3" descr="Logotipo&#10;&#10;Descrição gerada automaticamente">
              <a:extLst>
                <a:ext uri="{FF2B5EF4-FFF2-40B4-BE49-F238E27FC236}">
                  <a16:creationId xmlns:a16="http://schemas.microsoft.com/office/drawing/2014/main" id="{7714F77F-C56F-4677-4E8A-31079CE5FE12}"/>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8514812" y="5473329"/>
              <a:ext cx="891120" cy="691645"/>
            </a:xfrm>
            <a:prstGeom prst="rect">
              <a:avLst/>
            </a:prstGeom>
          </p:spPr>
        </p:pic>
        <p:pic>
          <p:nvPicPr>
            <p:cNvPr id="6" name="Imagem 5" descr="Logotipo, nome da empresa&#10;&#10;Descrição gerada automaticamente">
              <a:extLst>
                <a:ext uri="{FF2B5EF4-FFF2-40B4-BE49-F238E27FC236}">
                  <a16:creationId xmlns:a16="http://schemas.microsoft.com/office/drawing/2014/main" id="{8E0F06B6-8F9E-60F5-8215-C2A7D6438C76}"/>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tretch>
              <a:fillRect/>
            </a:stretch>
          </p:blipFill>
          <p:spPr>
            <a:xfrm>
              <a:off x="6001188" y="5458407"/>
              <a:ext cx="787775" cy="793179"/>
            </a:xfrm>
            <a:prstGeom prst="rect">
              <a:avLst/>
            </a:prstGeom>
          </p:spPr>
        </p:pic>
        <p:pic>
          <p:nvPicPr>
            <p:cNvPr id="7" name="Imagem 6" descr="Diagrama&#10;&#10;Descrição gerada automaticamente com confiança média">
              <a:extLst>
                <a:ext uri="{FF2B5EF4-FFF2-40B4-BE49-F238E27FC236}">
                  <a16:creationId xmlns:a16="http://schemas.microsoft.com/office/drawing/2014/main" id="{A7B395B4-2A91-B91C-C0B0-B490DEA370C3}"/>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tretch>
              <a:fillRect/>
            </a:stretch>
          </p:blipFill>
          <p:spPr>
            <a:xfrm>
              <a:off x="6951457" y="5509407"/>
              <a:ext cx="1348656" cy="655567"/>
            </a:xfrm>
            <a:prstGeom prst="rect">
              <a:avLst/>
            </a:prstGeom>
          </p:spPr>
        </p:pic>
        <p:sp>
          <p:nvSpPr>
            <p:cNvPr id="9" name="TextBox 11">
              <a:extLst>
                <a:ext uri="{FF2B5EF4-FFF2-40B4-BE49-F238E27FC236}">
                  <a16:creationId xmlns:a16="http://schemas.microsoft.com/office/drawing/2014/main" id="{51D949C2-B9E0-3949-1FD0-BEC91381DFBB}"/>
                </a:ext>
              </a:extLst>
            </p:cNvPr>
            <p:cNvSpPr txBox="1"/>
            <p:nvPr/>
          </p:nvSpPr>
          <p:spPr>
            <a:xfrm>
              <a:off x="4679953" y="5800632"/>
              <a:ext cx="1208482" cy="123111"/>
            </a:xfrm>
            <a:prstGeom prst="rect">
              <a:avLst/>
            </a:prstGeom>
          </p:spPr>
          <p:txBody>
            <a:bodyPr wrap="square" lIns="0" tIns="0" rIns="0" bIns="0" rtlCol="0" anchor="t">
              <a:spAutoFit/>
            </a:bodyPr>
            <a:lstStyle/>
            <a:p>
              <a:pPr fontAlgn="t"/>
              <a:r>
                <a:rPr lang="en-US" sz="800" b="1" dirty="0">
                  <a:solidFill>
                    <a:schemeClr val="bg2">
                      <a:lumMod val="25000"/>
                    </a:schemeClr>
                  </a:solidFill>
                  <a:latin typeface="Arial" panose="020B0604020202020204" pitchFamily="34" charset="0"/>
                  <a:cs typeface="Arial" panose="020B0604020202020204" pitchFamily="34" charset="0"/>
                </a:rPr>
                <a:t>RECONHECIMENTOS</a:t>
              </a:r>
              <a:r>
                <a:rPr lang="en-US" sz="800" b="1" dirty="0">
                  <a:solidFill>
                    <a:srgbClr val="004B78"/>
                  </a:solidFill>
                  <a:latin typeface="Arial" panose="020B0604020202020204" pitchFamily="34" charset="0"/>
                  <a:cs typeface="Arial" panose="020B0604020202020204" pitchFamily="34" charset="0"/>
                </a:rPr>
                <a:t>:</a:t>
              </a:r>
            </a:p>
          </p:txBody>
        </p:sp>
      </p:grpSp>
    </p:spTree>
    <p:extLst>
      <p:ext uri="{BB962C8B-B14F-4D97-AF65-F5344CB8AC3E}">
        <p14:creationId xmlns:p14="http://schemas.microsoft.com/office/powerpoint/2010/main" val="3821612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E43B647D-ED87-4C4C-9501-E39B9ACA7BB3}"/>
              </a:ext>
            </a:extLst>
          </p:cNvPr>
          <p:cNvSpPr/>
          <p:nvPr/>
        </p:nvSpPr>
        <p:spPr>
          <a:xfrm>
            <a:off x="0" y="0"/>
            <a:ext cx="12192000" cy="5279058"/>
          </a:xfrm>
          <a:prstGeom prst="rect">
            <a:avLst/>
          </a:prstGeom>
          <a:solidFill>
            <a:srgbClr val="004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descr="Logotipo&#10;&#10;Descrição gerada automaticamente">
            <a:extLst>
              <a:ext uri="{FF2B5EF4-FFF2-40B4-BE49-F238E27FC236}">
                <a16:creationId xmlns:a16="http://schemas.microsoft.com/office/drawing/2014/main" id="{D8D38A84-A714-D340-89BE-C555B635A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5304" y="1625595"/>
            <a:ext cx="5821392" cy="2263202"/>
          </a:xfrm>
          <a:prstGeom prst="rect">
            <a:avLst/>
          </a:prstGeom>
        </p:spPr>
      </p:pic>
      <p:grpSp>
        <p:nvGrpSpPr>
          <p:cNvPr id="2" name="Agrupar 1">
            <a:extLst>
              <a:ext uri="{FF2B5EF4-FFF2-40B4-BE49-F238E27FC236}">
                <a16:creationId xmlns:a16="http://schemas.microsoft.com/office/drawing/2014/main" id="{BC2552A9-FAD8-C066-870A-B2EB79013BFD}"/>
              </a:ext>
            </a:extLst>
          </p:cNvPr>
          <p:cNvGrpSpPr/>
          <p:nvPr/>
        </p:nvGrpSpPr>
        <p:grpSpPr>
          <a:xfrm>
            <a:off x="3185304" y="5616875"/>
            <a:ext cx="5708097" cy="969180"/>
            <a:chOff x="325881" y="5738173"/>
            <a:chExt cx="5708097" cy="969180"/>
          </a:xfrm>
        </p:grpSpPr>
        <p:pic>
          <p:nvPicPr>
            <p:cNvPr id="3" name="Imagem 2" descr="Logotipo&#10;&#10;Descrição gerada automaticamente">
              <a:extLst>
                <a:ext uri="{FF2B5EF4-FFF2-40B4-BE49-F238E27FC236}">
                  <a16:creationId xmlns:a16="http://schemas.microsoft.com/office/drawing/2014/main" id="{AF6922AA-EDA2-2A41-5DE1-9C1D5E37B4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5125" y="5756406"/>
              <a:ext cx="1088853" cy="845116"/>
            </a:xfrm>
            <a:prstGeom prst="rect">
              <a:avLst/>
            </a:prstGeom>
          </p:spPr>
        </p:pic>
        <p:pic>
          <p:nvPicPr>
            <p:cNvPr id="4" name="Imagem 3" descr="Logotipo, nome da empresa&#10;&#10;Descrição gerada automaticamente">
              <a:extLst>
                <a:ext uri="{FF2B5EF4-FFF2-40B4-BE49-F238E27FC236}">
                  <a16:creationId xmlns:a16="http://schemas.microsoft.com/office/drawing/2014/main" id="{857FCB2A-E95D-0542-77FE-D52596E2D2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7470" y="5738173"/>
              <a:ext cx="962576" cy="969180"/>
            </a:xfrm>
            <a:prstGeom prst="rect">
              <a:avLst/>
            </a:prstGeom>
          </p:spPr>
        </p:pic>
        <p:pic>
          <p:nvPicPr>
            <p:cNvPr id="5" name="Imagem 4" descr="Diagrama&#10;&#10;Descrição gerada automaticamente com confiança média">
              <a:extLst>
                <a:ext uri="{FF2B5EF4-FFF2-40B4-BE49-F238E27FC236}">
                  <a16:creationId xmlns:a16="http://schemas.microsoft.com/office/drawing/2014/main" id="{2E3022F6-6681-DE8B-0378-93B994206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77395" y="5800489"/>
              <a:ext cx="1647912" cy="801033"/>
            </a:xfrm>
            <a:prstGeom prst="rect">
              <a:avLst/>
            </a:prstGeom>
          </p:spPr>
        </p:pic>
        <p:sp>
          <p:nvSpPr>
            <p:cNvPr id="7" name="TextBox 11">
              <a:extLst>
                <a:ext uri="{FF2B5EF4-FFF2-40B4-BE49-F238E27FC236}">
                  <a16:creationId xmlns:a16="http://schemas.microsoft.com/office/drawing/2014/main" id="{3FBC31C6-D700-D999-790D-FF398E6623EA}"/>
                </a:ext>
              </a:extLst>
            </p:cNvPr>
            <p:cNvSpPr txBox="1"/>
            <p:nvPr/>
          </p:nvSpPr>
          <p:spPr>
            <a:xfrm>
              <a:off x="325881" y="6156335"/>
              <a:ext cx="1241703" cy="138499"/>
            </a:xfrm>
            <a:prstGeom prst="rect">
              <a:avLst/>
            </a:prstGeom>
          </p:spPr>
          <p:txBody>
            <a:bodyPr wrap="square" lIns="0" tIns="0" rIns="0" bIns="0" rtlCol="0" anchor="t">
              <a:spAutoFit/>
            </a:bodyPr>
            <a:lstStyle/>
            <a:p>
              <a:pPr fontAlgn="t"/>
              <a:r>
                <a:rPr lang="en-US" sz="900" b="1" dirty="0">
                  <a:solidFill>
                    <a:srgbClr val="004B78"/>
                  </a:solidFill>
                  <a:latin typeface="Arial" panose="020B0604020202020204" pitchFamily="34" charset="0"/>
                  <a:cs typeface="Arial" panose="020B0604020202020204" pitchFamily="34" charset="0"/>
                </a:rPr>
                <a:t>RECONHECIMENTOS:</a:t>
              </a:r>
            </a:p>
          </p:txBody>
        </p:sp>
      </p:grpSp>
    </p:spTree>
    <p:extLst>
      <p:ext uri="{BB962C8B-B14F-4D97-AF65-F5344CB8AC3E}">
        <p14:creationId xmlns:p14="http://schemas.microsoft.com/office/powerpoint/2010/main" val="4181780632"/>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1DB296FFF12F478B558829AA6C9B47" ma:contentTypeVersion="4" ma:contentTypeDescription="Create a new document." ma:contentTypeScope="" ma:versionID="829e4667ed99cacd6ec2ce763558c287">
  <xsd:schema xmlns:xsd="http://www.w3.org/2001/XMLSchema" xmlns:xs="http://www.w3.org/2001/XMLSchema" xmlns:p="http://schemas.microsoft.com/office/2006/metadata/properties" xmlns:ns2="aeba14e6-32c1-45a4-8fb4-065345195e8d" targetNamespace="http://schemas.microsoft.com/office/2006/metadata/properties" ma:root="true" ma:fieldsID="8fc5404a22aba04bcef6230e44e4024f" ns2:_="">
    <xsd:import namespace="aeba14e6-32c1-45a4-8fb4-065345195e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ba14e6-32c1-45a4-8fb4-065345195e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1E32E2-6ADA-4439-B0E2-0146FB25C274}">
  <ds:schemaRefs>
    <ds:schemaRef ds:uri="http://schemas.microsoft.com/sharepoint/v3/contenttype/forms"/>
  </ds:schemaRefs>
</ds:datastoreItem>
</file>

<file path=customXml/itemProps2.xml><?xml version="1.0" encoding="utf-8"?>
<ds:datastoreItem xmlns:ds="http://schemas.openxmlformats.org/officeDocument/2006/customXml" ds:itemID="{6A3277CF-1619-490D-AC5A-06E6387BA999}">
  <ds:schemaRefs>
    <ds:schemaRef ds:uri="http://schemas.microsoft.com/office/2006/documentManagement/types"/>
    <ds:schemaRef ds:uri="http://purl.org/dc/elements/1.1/"/>
    <ds:schemaRef ds:uri="d364ee61-a527-4408-a66b-f1c80b0b1aae"/>
    <ds:schemaRef ds:uri="http://purl.org/dc/dcmitype/"/>
    <ds:schemaRef ds:uri="http://purl.org/dc/terms/"/>
    <ds:schemaRef ds:uri="http://schemas.openxmlformats.org/package/2006/metadata/core-properties"/>
    <ds:schemaRef ds:uri="http://www.w3.org/XML/1998/namespace"/>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BCF959F4-81A9-43C5-BAE5-664BD48981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ba14e6-32c1-45a4-8fb4-065345195e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998</TotalTime>
  <Words>979</Words>
  <Application>Microsoft Macintosh PowerPoint</Application>
  <PresentationFormat>Widescreen</PresentationFormat>
  <Paragraphs>78</Paragraphs>
  <Slides>9</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9</vt:i4>
      </vt:variant>
    </vt:vector>
  </HeadingPairs>
  <TitlesOfParts>
    <vt:vector size="13"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Pamplona de Almeida</dc:creator>
  <cp:lastModifiedBy>Matheus Ferreira</cp:lastModifiedBy>
  <cp:revision>109</cp:revision>
  <dcterms:created xsi:type="dcterms:W3CDTF">2020-03-26T13:22:22Z</dcterms:created>
  <dcterms:modified xsi:type="dcterms:W3CDTF">2025-11-24T21:04:33Z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0x010100C81DB296FFF12F478B558829AA6C9B47</vt:lpwstr>
  </property>
</Properties>
</file>